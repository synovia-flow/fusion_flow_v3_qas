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449324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1371600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SYNOVIA FUSION · FUSION FLOW · RELEASE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3721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AF1F8"/>
                </a:solidFill>
                <a:latin typeface="Segoe UI"/>
              </a:rPr>
              <a:t>Data Processing Module — PRS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79552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3D3E3"/>
                </a:solidFill>
                <a:latin typeface="Segoe UI"/>
              </a:rPr>
              <a:t>How Module 2 turns raw client files into </a:t>
            </a:r>
            <a:r>
              <a:rPr sz="1500" b="1" i="0">
                <a:solidFill>
                  <a:srgbClr val="EAF1F8"/>
                </a:solidFill>
                <a:latin typeface="Segoe UI"/>
              </a:rPr>
              <a:t>validated, TSS-shaped customs declarations</a:t>
            </a:r>
            <a:r>
              <a:rPr sz="1500" b="0" i="0">
                <a:solidFill>
                  <a:srgbClr val="C3D3E3"/>
                </a:solidFill>
                <a:latin typeface="Segoe UI"/>
              </a:rPr>
              <a:t> — the journey from an inbox attachment to a submission-ready record, one checkpoint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92040"/>
            <a:ext cx="1906524" cy="384048"/>
          </a:xfrm>
          <a:prstGeom prst="roundRect">
            <a:avLst>
              <a:gd name="adj" fmla="val 500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50" b="0" i="0" spc="80">
                <a:solidFill>
                  <a:srgbClr val="8AA0B6"/>
                </a:solidFill>
                <a:latin typeface="Consolas"/>
              </a:rPr>
              <a:t>PILOT  </a:t>
            </a:r>
            <a:r>
              <a:rPr sz="950" b="1" i="0">
                <a:solidFill>
                  <a:srgbClr val="D9A23B"/>
                </a:solidFill>
                <a:latin typeface="Consolas"/>
              </a:rPr>
              <a:t>BKD · Birkdale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8356" y="4892040"/>
            <a:ext cx="2139696" cy="384048"/>
          </a:xfrm>
          <a:prstGeom prst="roundRect">
            <a:avLst>
              <a:gd name="adj" fmla="val 500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50" b="0" i="0" spc="80">
                <a:solidFill>
                  <a:srgbClr val="8AA0B6"/>
                </a:solidFill>
                <a:latin typeface="Consolas"/>
              </a:rPr>
              <a:t>ROUTE A  </a:t>
            </a:r>
            <a:r>
              <a:rPr sz="950" b="1" i="0">
                <a:solidFill>
                  <a:srgbClr val="D9A23B"/>
                </a:solidFill>
                <a:latin typeface="Consolas"/>
              </a:rPr>
              <a:t>ENS→SFD→GMR→SDI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52644" y="4892040"/>
            <a:ext cx="1595628" cy="384048"/>
          </a:xfrm>
          <a:prstGeom prst="roundRect">
            <a:avLst>
              <a:gd name="adj" fmla="val 500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50" b="0" i="0" spc="80">
                <a:solidFill>
                  <a:srgbClr val="8AA0B6"/>
                </a:solidFill>
                <a:latin typeface="Consolas"/>
              </a:rPr>
              <a:t>MOVEMENT  </a:t>
            </a:r>
            <a:r>
              <a:rPr sz="950" b="1" i="0">
                <a:solidFill>
                  <a:srgbClr val="D9A23B"/>
                </a:solidFill>
                <a:latin typeface="Consolas"/>
              </a:rPr>
              <a:t>GB → 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2864" y="4892040"/>
            <a:ext cx="2217420" cy="384048"/>
          </a:xfrm>
          <a:prstGeom prst="roundRect">
            <a:avLst>
              <a:gd name="adj" fmla="val 500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50" b="0" i="0" spc="80">
                <a:solidFill>
                  <a:srgbClr val="8AA0B6"/>
                </a:solidFill>
                <a:latin typeface="Consolas"/>
              </a:rPr>
              <a:t>STACK  </a:t>
            </a:r>
            <a:r>
              <a:rPr sz="950" b="1" i="0">
                <a:solidFill>
                  <a:srgbClr val="D9A23B"/>
                </a:solidFill>
                <a:latin typeface="Consolas"/>
              </a:rPr>
              <a:t>Python · Azure 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32120"/>
            <a:ext cx="4206240" cy="18288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01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ARCHITECTURE · WHERE MODULE 2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One transform, three neighbours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3D3E3"/>
                </a:solidFill>
                <a:latin typeface="Segoe UI"/>
              </a:rPr>
              <a:t>Each stage of the platform is its own SQL schema. Module 2 reads from </a:t>
            </a:r>
            <a:r>
              <a:rPr sz="1300" b="1" i="0">
                <a:solidFill>
                  <a:srgbClr val="4FB0D6"/>
                </a:solidFill>
                <a:latin typeface="Consolas"/>
              </a:rPr>
              <a:t>ING</a:t>
            </a:r>
            <a:r>
              <a:rPr sz="1300" b="0" i="0">
                <a:solidFill>
                  <a:srgbClr val="C3D3E3"/>
                </a:solidFill>
                <a:latin typeface="Segoe UI"/>
              </a:rPr>
              <a:t>, writes to </a:t>
            </a:r>
            <a:r>
              <a:rPr sz="1300" b="1" i="0">
                <a:solidFill>
                  <a:srgbClr val="4FB0D6"/>
                </a:solidFill>
                <a:latin typeface="Consolas"/>
              </a:rPr>
              <a:t>PRS</a:t>
            </a:r>
            <a:r>
              <a:rPr sz="1300" b="0" i="0">
                <a:solidFill>
                  <a:srgbClr val="C3D3E3"/>
                </a:solidFill>
                <a:latin typeface="Segoe UI"/>
              </a:rPr>
              <a:t>, and hands off to submission — it never calls the TSS API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301898" cy="246888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715768"/>
            <a:ext cx="282641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UPSTREAM · ING</a:t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EAF1F8"/>
                </a:solidFill>
                <a:latin typeface="Segoe UI"/>
              </a:rPr>
              <a:t>Raw, verbatim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 i="0">
                <a:solidFill>
                  <a:srgbClr val="C3D3E3"/>
                </a:solidFill>
                <a:latin typeface="Segoe UI"/>
              </a:rPr>
              <a:t>What Ingestion landed, untouched: BKD_Raw_ENS (typed ENS fields) and BKD_Raw_Sales_Orders (goods lines as JSON).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514600"/>
            <a:ext cx="3301898" cy="246888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D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2642" y="2715768"/>
            <a:ext cx="282641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D9A23B"/>
                </a:solidFill>
                <a:latin typeface="Consolas"/>
              </a:rPr>
              <a:t>THIS MODULE · PRS</a:t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EAF1F8"/>
                </a:solidFill>
                <a:latin typeface="Segoe UI"/>
              </a:rPr>
              <a:t>Canonical &amp; validated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 i="0">
                <a:solidFill>
                  <a:srgbClr val="C3D3E3"/>
                </a:solidFill>
                <a:latin typeface="Segoe UI"/>
              </a:rPr>
              <a:t>The four-checkpoint transform. Output is a clean object graph in exact TSS field shape — each row VALIDATED or REJECTED.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2514600"/>
            <a:ext cx="3301898" cy="246888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2715768"/>
            <a:ext cx="282641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DOWNSTREAM · STG / API</a:t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EAF1F8"/>
                </a:solidFill>
                <a:latin typeface="Segoe UI"/>
              </a:rPr>
              <a:t>Submission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 i="0">
                <a:solidFill>
                  <a:srgbClr val="C3D3E3"/>
                </a:solidFill>
                <a:latin typeface="Segoe UI"/>
              </a:rPr>
              <a:t>Module 3 stages the validated objects and runs the ordered Route A calls to TSS. Out of scope 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A0B6"/>
                </a:solidFill>
                <a:latin typeface="Segoe UI"/>
              </a:rPr>
              <a:t>Cross-cutting throughout:  </a:t>
            </a:r>
            <a:r>
              <a:rPr sz="1100" b="0" i="0">
                <a:solidFill>
                  <a:srgbClr val="EAF1F8"/>
                </a:solidFill>
                <a:latin typeface="Consolas"/>
              </a:rPr>
              <a:t>CFG</a:t>
            </a:r>
            <a:r>
              <a:rPr sz="1100" b="0" i="0">
                <a:solidFill>
                  <a:srgbClr val="8AA0B6"/>
                </a:solidFill>
                <a:latin typeface="Segoe UI"/>
              </a:rPr>
              <a:t> drives behaviour · </a:t>
            </a:r>
            <a:r>
              <a:rPr sz="1100" b="0" i="0">
                <a:solidFill>
                  <a:srgbClr val="EAF1F8"/>
                </a:solidFill>
                <a:latin typeface="Consolas"/>
              </a:rPr>
              <a:t>EXC</a:t>
            </a:r>
            <a:r>
              <a:rPr sz="1100" b="0" i="0">
                <a:solidFill>
                  <a:srgbClr val="8AA0B6"/>
                </a:solidFill>
                <a:latin typeface="Segoe UI"/>
              </a:rPr>
              <a:t> carries the execution &amp; audit spine · </a:t>
            </a:r>
            <a:r>
              <a:rPr sz="1100" b="0" i="0">
                <a:solidFill>
                  <a:srgbClr val="EAF1F8"/>
                </a:solidFill>
                <a:latin typeface="Consolas"/>
              </a:rPr>
              <a:t>LOG</a:t>
            </a:r>
            <a:r>
              <a:rPr sz="1100" b="0" i="0">
                <a:solidFill>
                  <a:srgbClr val="8AA0B6"/>
                </a:solidFill>
                <a:latin typeface="Segoe UI"/>
              </a:rPr>
              <a:t> holds technical traces.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02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THE TRIGGER · CONFIG-DRIVEN, NO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The scheduler just runs the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852160" cy="868680"/>
          </a:xfrm>
          <a:prstGeom prst="roundRect">
            <a:avLst>
              <a:gd name="adj" fmla="val 5000"/>
            </a:avLst>
          </a:prstGeom>
          <a:solidFill>
            <a:srgbClr val="071728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AF1F8"/>
                </a:solidFill>
                <a:latin typeface="Consolas"/>
              </a:rPr>
              <a:t>$ python Modules/Processing/process_data.py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 i="0">
                <a:solidFill>
                  <a:srgbClr val="C3D3E3"/>
                </a:solidFill>
                <a:latin typeface="Segoe UI"/>
              </a:rPr>
              <a:t>No arguments, no flags. Everything the run needs lives in the database —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 i="0">
                <a:solidFill>
                  <a:srgbClr val="C3D3E3"/>
                </a:solidFill>
                <a:latin typeface="Segoe UI"/>
              </a:rPr>
              <a:t>so onboarding a client or flipping to dry-run is a config change, not a code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783080"/>
            <a:ext cx="4327855" cy="96012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24344" y="1984248"/>
            <a:ext cx="38523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CONNECTION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C3D3E3"/>
                </a:solidFill>
                <a:latin typeface="Segoe UI"/>
              </a:rPr>
              <a:t>Read from Configuration/Fusion_Flow_QAS.ini — the only thing outside the DB, and it stays out of git.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944368"/>
            <a:ext cx="4327855" cy="123444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D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24344" y="3145536"/>
            <a:ext cx="385236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D9A23B"/>
                </a:solidFill>
                <a:latin typeface="Consolas"/>
              </a:rPr>
              <a:t>BEHAVIOUR · CFG.APPLICATION_PARAMETERS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D9A23B"/>
                </a:solidFill>
                <a:latin typeface="Consolas"/>
              </a:rPr>
              <a:t>PROCESSING_CLIENT = BKD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D9A23B"/>
                </a:solidFill>
                <a:latin typeface="Consolas"/>
              </a:rPr>
              <a:t>PROCESSING_TRANSACTION_MODE = latest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D9A23B"/>
                </a:solidFill>
                <a:latin typeface="Consolas"/>
              </a:rPr>
              <a:t>PROCESSING_DRY_RUN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4379976"/>
            <a:ext cx="4327855" cy="96012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24344" y="4581144"/>
            <a:ext cx="38523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TRACEABILITY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C3D3E3"/>
                </a:solidFill>
                <a:latin typeface="Segoe UI"/>
              </a:rPr>
              <a:t>One EXC.Execution row with a TransactionID that threads through every PRS row and audit record.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03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THE PIPELINE · ONE MOVEMENT, FOUR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Like a shipment clearing the border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3D3E3"/>
                </a:solidFill>
                <a:latin typeface="Segoe UI"/>
              </a:rPr>
              <a:t>A “movement” is one truck / one ENS, keyed by </a:t>
            </a:r>
            <a:r>
              <a:rPr sz="1250" b="1" i="0">
                <a:solidFill>
                  <a:srgbClr val="4FB0D6"/>
                </a:solidFill>
                <a:latin typeface="Consolas"/>
              </a:rPr>
              <a:t>MovementKey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 (the ENS DedupKey, DetailsDate|ICR). It clears four checkpoints in order — each runs only if the last one passed.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0E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98648"/>
            <a:ext cx="19933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60">
                <a:solidFill>
                  <a:srgbClr val="D9A23B"/>
                </a:solidFill>
                <a:latin typeface="Consolas"/>
              </a:rPr>
              <a:t>CHECKPOINT 01</a:t>
            </a:r>
          </a:p>
          <a:p>
            <a:pPr algn="l">
              <a:spcBef>
                <a:spcPts val="400"/>
              </a:spcBef>
            </a:pPr>
            <a:r>
              <a:rPr sz="1700" b="1" i="0">
                <a:solidFill>
                  <a:srgbClr val="EAF1F8"/>
                </a:solidFill>
                <a:latin typeface="Segoe UI"/>
              </a:rPr>
              <a:t>Normalise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 i="0">
                <a:solidFill>
                  <a:srgbClr val="8AA0B6"/>
                </a:solidFill>
                <a:latin typeface="Segoe UI"/>
              </a:rPr>
              <a:t>Map source → canonical. Fix dates, codes, casing.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4480560"/>
            <a:ext cx="987551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4F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4FB0D6"/>
                </a:solidFill>
                <a:latin typeface="Consolas"/>
              </a:rPr>
              <a:t>NORMALISED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3520440"/>
            <a:ext cx="3148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6708C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4402" y="269748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0E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5570" y="2898648"/>
            <a:ext cx="19933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60">
                <a:solidFill>
                  <a:srgbClr val="D9A23B"/>
                </a:solidFill>
                <a:latin typeface="Consolas"/>
              </a:rPr>
              <a:t>CHECKPOINT 02</a:t>
            </a:r>
          </a:p>
          <a:p>
            <a:pPr algn="l">
              <a:spcBef>
                <a:spcPts val="400"/>
              </a:spcBef>
            </a:pPr>
            <a:r>
              <a:rPr sz="1700" b="1" i="0">
                <a:solidFill>
                  <a:srgbClr val="EAF1F8"/>
                </a:solidFill>
                <a:latin typeface="Segoe UI"/>
              </a:rPr>
              <a:t>Enrich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 i="0">
                <a:solidFill>
                  <a:srgbClr val="8AA0B6"/>
                </a:solidFill>
                <a:latin typeface="Segoe UI"/>
              </a:rPr>
              <a:t>Resolve choice values. Apply BKD business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5570" y="4480560"/>
            <a:ext cx="819302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4F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4FB0D6"/>
                </a:solidFill>
                <a:latin typeface="Consolas"/>
              </a:rPr>
              <a:t>ENRICHED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418" y="3520440"/>
            <a:ext cx="3148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6708C"/>
                </a:solidFill>
                <a:latin typeface="Consola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1564" y="269748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0E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2732" y="2898648"/>
            <a:ext cx="19933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60">
                <a:solidFill>
                  <a:srgbClr val="D9A23B"/>
                </a:solidFill>
                <a:latin typeface="Consolas"/>
              </a:rPr>
              <a:t>CHECKPOINT 03</a:t>
            </a:r>
          </a:p>
          <a:p>
            <a:pPr algn="l">
              <a:spcBef>
                <a:spcPts val="400"/>
              </a:spcBef>
            </a:pPr>
            <a:r>
              <a:rPr sz="1700" b="1" i="0">
                <a:solidFill>
                  <a:srgbClr val="EAF1F8"/>
                </a:solidFill>
                <a:latin typeface="Segoe UI"/>
              </a:rPr>
              <a:t>Construct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 i="0">
                <a:solidFill>
                  <a:srgbClr val="8AA0B6"/>
                </a:solidFill>
                <a:latin typeface="Segoe UI"/>
              </a:rPr>
              <a:t>Assemble header → consignments → goods + nested.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2732" y="4480560"/>
            <a:ext cx="1071676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4F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4FB0D6"/>
                </a:solidFill>
                <a:latin typeface="Consolas"/>
              </a:rPr>
              <a:t>CONSTRUCTED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5580" y="3520440"/>
            <a:ext cx="3148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6708C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8727" y="269748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0E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9895" y="2898648"/>
            <a:ext cx="19933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60">
                <a:solidFill>
                  <a:srgbClr val="D9A23B"/>
                </a:solidFill>
                <a:latin typeface="Consolas"/>
              </a:rPr>
              <a:t>CHECKPOINT 04</a:t>
            </a:r>
          </a:p>
          <a:p>
            <a:pPr algn="l">
              <a:spcBef>
                <a:spcPts val="400"/>
              </a:spcBef>
            </a:pPr>
            <a:r>
              <a:rPr sz="1700" b="1" i="0">
                <a:solidFill>
                  <a:srgbClr val="EAF1F8"/>
                </a:solidFill>
                <a:latin typeface="Segoe UI"/>
              </a:rPr>
              <a:t>Validate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 i="0">
                <a:solidFill>
                  <a:srgbClr val="8AA0B6"/>
                </a:solidFill>
                <a:latin typeface="Segoe UI"/>
              </a:rPr>
              <a:t>Check every mandatory &amp; conditional field.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9895" y="4480560"/>
            <a:ext cx="903427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46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46C08A"/>
                </a:solidFill>
                <a:latin typeface="Consolas"/>
              </a:rPr>
              <a:t>VALIDATED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33050" y="4480560"/>
            <a:ext cx="819302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E56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E5685F"/>
                </a:solidFill>
                <a:latin typeface="Consolas"/>
              </a:rPr>
              <a:t>REJECTED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A0B6"/>
                </a:solidFill>
                <a:latin typeface="Segoe UI"/>
              </a:rPr>
              <a:t>At each boundary the runner writes an </a:t>
            </a:r>
            <a:r>
              <a:rPr sz="1100" b="0" i="0">
                <a:solidFill>
                  <a:srgbClr val="EAF1F8"/>
                </a:solidFill>
                <a:latin typeface="Consolas"/>
              </a:rPr>
              <a:t>EXC.Transaction</a:t>
            </a:r>
            <a:r>
              <a:rPr sz="1100" b="0" i="0">
                <a:solidFill>
                  <a:srgbClr val="8AA0B6"/>
                </a:solidFill>
                <a:latin typeface="Segoe UI"/>
              </a:rPr>
              <a:t> row and advances the shared status vocabulary — so you can always see where a movement got 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04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CHECKPOINT 01 · NORMALISE · DP-FR-01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Speak one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1208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0" i="0">
                <a:solidFill>
                  <a:srgbClr val="C3D3E3"/>
                </a:solidFill>
                <a:latin typeface="Segoe UI"/>
              </a:rPr>
              <a:t>The two raw sources use the client's own column names and human formats. Normalise rewrites them into the single canonical vocabulary the rest of the platform uses.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D9A23B"/>
                </a:solidFill>
                <a:latin typeface="Segoe UI"/>
              </a:rPr>
              <a:t>1  Map columns — 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source headers → canonical TSS field names. The first non-empty alias wins, so a later blank never wipes a good value.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D9A23B"/>
                </a:solidFill>
                <a:latin typeface="Segoe UI"/>
              </a:rPr>
              <a:t>2  Fix the clock — 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relative dates resolve to strict DD/MM/YYYY HH:MM:SS UTC, plus a sortable timestamp.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D9A23B"/>
                </a:solidFill>
                <a:latin typeface="Segoe UI"/>
              </a:rPr>
              <a:t>3  Tidy codes — 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trim whitespace; upper-case EORIs, country and port codes.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783080"/>
            <a:ext cx="4785055" cy="114300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67144" y="1984248"/>
            <a:ext cx="43095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IN · RAW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1050" b="0" i="0">
                <a:solidFill>
                  <a:srgbClr val="F0E3C4"/>
                </a:solidFill>
                <a:latin typeface="Consolas"/>
              </a:rPr>
              <a:t>arrival_date_time: "Tomorrow's Date / 06:30"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0E3C4"/>
                </a:solidFill>
                <a:latin typeface="Consolas"/>
              </a:rPr>
              <a:t>nationality: "gb"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35808"/>
            <a:ext cx="4785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6708C"/>
                </a:solidFill>
                <a:latin typeface="Consolas"/>
              </a:rPr>
              <a:t>↓  normalise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429000"/>
            <a:ext cx="4785055" cy="123444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D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67144" y="3630168"/>
            <a:ext cx="430956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D9A23B"/>
                </a:solidFill>
                <a:latin typeface="Consolas"/>
              </a:rPr>
              <a:t>OUT · CANONICAL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sz="1050" b="0" i="0">
                <a:solidFill>
                  <a:srgbClr val="4FB0D6"/>
                </a:solidFill>
                <a:latin typeface="Consolas"/>
              </a:rPr>
              <a:t>arrival_date_time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 =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26/06/2026 06:30:00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FB0D6"/>
                </a:solidFill>
                <a:latin typeface="Consolas"/>
              </a:rPr>
              <a:t>nationality_of_transport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 =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800600"/>
            <a:ext cx="1155801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4F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4FB0D6"/>
                </a:solidFill>
                <a:latin typeface="Consolas"/>
              </a:rPr>
              <a:t>→ NORMALISED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05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CHECKPOINT 02 · ENRICH · DP-FR-02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Add what TSS demands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3D3E3"/>
                </a:solidFill>
                <a:latin typeface="Segoe UI"/>
              </a:rPr>
              <a:t>Two jobs: resolve coded values against the cached choice-value sets in </a:t>
            </a:r>
            <a:r>
              <a:rPr sz="1200" b="1" i="0">
                <a:solidFill>
                  <a:srgbClr val="4FB0D6"/>
                </a:solidFill>
                <a:latin typeface="Consolas"/>
              </a:rPr>
              <a:t>CFG.Choice_Value_Cache</a:t>
            </a:r>
            <a:r>
              <a:rPr sz="1200" b="0" i="0">
                <a:solidFill>
                  <a:srgbClr val="C3D3E3"/>
                </a:solidFill>
                <a:latin typeface="Segoe UI"/>
              </a:rPr>
              <a:t>, then apply Birkdale's business rules — the hard-won constants that stop TSS rejecting the payload.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5135727" cy="96012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624328"/>
            <a:ext cx="46602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CHOICE RESOLUTION · RULE 9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50" b="0" i="0">
                <a:solidFill>
                  <a:srgbClr val="C3D3E3"/>
                </a:solidFill>
                <a:latin typeface="Segoe UI"/>
              </a:rPr>
              <a:t>Before any lookup the runner introspects the cache's real columns via INFORMATION_SCHEMA — names vary, so nothing is assumed.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423160"/>
            <a:ext cx="5135727" cy="96012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D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6471" y="2624328"/>
            <a:ext cx="46602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D9A23B"/>
                </a:solidFill>
                <a:latin typeface="Consolas"/>
              </a:rPr>
              <a:t>BKD QAS RULES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50" b="0" i="0">
                <a:solidFill>
                  <a:srgbClr val="C3D3E3"/>
                </a:solidFill>
                <a:latin typeface="Segoe UI"/>
              </a:rPr>
              <a:t>Fixed and fallback values applied automatically for every Birkdale movement, each one logged with the rule it came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11880"/>
            <a:ext cx="95399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AA0B6"/>
                </a:solidFill>
                <a:latin typeface="Consolas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5825" y="3611880"/>
            <a:ext cx="32941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AA0B6"/>
                </a:solidFill>
                <a:latin typeface="Consolas"/>
              </a:rPr>
              <a:t>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9734" y="3611880"/>
            <a:ext cx="26559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AA0B6"/>
                </a:solidFill>
                <a:latin typeface="Consolas"/>
              </a:rPr>
              <a:t>VALUE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410" y="3611880"/>
            <a:ext cx="32941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AA0B6"/>
                </a:solidFill>
                <a:latin typeface="Consolas"/>
              </a:rPr>
              <a:t>WHY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22776"/>
            <a:ext cx="1063721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" y="4014215"/>
            <a:ext cx="9539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5825" y="4014215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AF1F8"/>
                </a:solidFill>
                <a:latin typeface="Consolas"/>
              </a:rPr>
              <a:t>arrival_port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9734" y="4014215"/>
            <a:ext cx="26559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GBAUBELBELBEL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410" y="4014215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Belfast — single port for all BKD GB→NI movements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389120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" y="4489703"/>
            <a:ext cx="9539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5825" y="4489703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AF1F8"/>
                </a:solidFill>
                <a:latin typeface="Consolas"/>
              </a:rPr>
              <a:t>transport_charges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9734" y="4489703"/>
            <a:ext cx="26559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410" y="4489703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Account holder with carrier — not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64607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" y="4965191"/>
            <a:ext cx="9539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5825" y="4965191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AF1F8"/>
                </a:solidFill>
                <a:latin typeface="Consolas"/>
              </a:rPr>
              <a:t>goods_domestic_status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9734" y="4965191"/>
            <a:ext cx="26559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410" y="4965191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Single char — TSS 400s on the value NIDOM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340095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" y="5440679"/>
            <a:ext cx="9539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5825" y="5440679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AF1F8"/>
                </a:solidFill>
                <a:latin typeface="Consolas"/>
              </a:rPr>
              <a:t>importer_eori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9734" y="5440679"/>
            <a:ext cx="26559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XI379692092000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410" y="5440679"/>
            <a:ext cx="32941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No customer EORI → Birkdale is importer &amp; consignor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815583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5989320"/>
            <a:ext cx="987551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4F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4FB0D6"/>
                </a:solidFill>
                <a:latin typeface="Consolas"/>
              </a:rPr>
              <a:t>→ ENRICHED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06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WHY IT EXISTS · THE EMPIRICALLY-CONFIRMED GOTCHAS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The rules that cost half-days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3D3E3"/>
                </a:solidFill>
                <a:latin typeface="Segoe UI"/>
              </a:rPr>
              <a:t>TSS rejects — often </a:t>
            </a:r>
            <a:r>
              <a:rPr sz="1200" b="0" i="1">
                <a:solidFill>
                  <a:srgbClr val="C3D3E3"/>
                </a:solidFill>
                <a:latin typeface="Segoe UI"/>
              </a:rPr>
              <a:t>silently</a:t>
            </a:r>
            <a:r>
              <a:rPr sz="1200" b="0" i="0">
                <a:solidFill>
                  <a:srgbClr val="C3D3E3"/>
                </a:solidFill>
                <a:latin typeface="Segoe UI"/>
              </a:rPr>
              <a:t> — when these aren't right. They're encoded once, in data, so no one rediscovers them in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3" y="2240280"/>
            <a:ext cx="10603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AA0B6"/>
                </a:solidFill>
                <a:latin typeface="Consolas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197" y="2240280"/>
            <a:ext cx="5740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AA0B6"/>
                </a:solidFill>
                <a:latin typeface="Consolas"/>
              </a:rPr>
              <a:t>THE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2666" y="2240280"/>
            <a:ext cx="350692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AA0B6"/>
                </a:solidFill>
                <a:latin typeface="Consolas"/>
              </a:rPr>
              <a:t>WHAT WE DO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1063721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2606039"/>
            <a:ext cx="10603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Rule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2197" y="2606039"/>
            <a:ext cx="5740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arrival_date_time must be strict UTC, not past, ≤14 days 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2666" y="2606039"/>
            <a:ext cx="35069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Reformat in Normalise, bounds-check in Validate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62656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" y="3063239"/>
            <a:ext cx="10603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Rule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2197" y="3063239"/>
            <a:ext cx="5740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RoRo Accompanied (3a) makes “conditional” carrier &amp; place fields mandatory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2666" y="3063239"/>
            <a:ext cx="35069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Validate enforces the full 3a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19856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" y="3520439"/>
            <a:ext cx="10603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Rule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2197" y="3520439"/>
            <a:ext cx="5740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Choice-cache column names differ per reference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2666" y="3520439"/>
            <a:ext cx="35069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Introspect columns before every read/insert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877056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3977639"/>
            <a:ext cx="10603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Rule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2197" y="3977639"/>
            <a:ext cx="5740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goods_domestic_status = NIDOM → 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2666" y="3977639"/>
            <a:ext cx="35069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Force single char 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334256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" y="4434840"/>
            <a:ext cx="10603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Rule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2197" y="4434840"/>
            <a:ext cx="5740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Wrong transport_charges literal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2666" y="4434840"/>
            <a:ext cx="35069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Force Y for BKD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791456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" y="4892040"/>
            <a:ext cx="10603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Rule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02197" y="4892040"/>
            <a:ext cx="5740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Free-text port fails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2666" y="4892040"/>
            <a:ext cx="35069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Force GBAUBELBELBEL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248656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3" y="5349240"/>
            <a:ext cx="10603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23B"/>
                </a:solidFill>
                <a:latin typeface="Consolas"/>
              </a:rPr>
              <a:t>Rule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2197" y="5349240"/>
            <a:ext cx="5740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Unregistered importer → SDI silently never generates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2666" y="5349240"/>
            <a:ext cx="35069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3D3E3"/>
                </a:solidFill>
                <a:latin typeface="Segoe UI"/>
              </a:rPr>
              <a:t>Fall back to Birkdale EORI XI379692092000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705856"/>
            <a:ext cx="10637215" cy="7315"/>
          </a:xfrm>
          <a:prstGeom prst="rect">
            <a:avLst/>
          </a:prstGeom>
          <a:solidFill>
            <a:srgbClr val="16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07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CHECKPOINT 03 · CONSTRUCT · DP-FR-03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Build the object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1208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250" b="0" i="0">
                <a:solidFill>
                  <a:srgbClr val="C3D3E3"/>
                </a:solidFill>
                <a:latin typeface="Segoe UI"/>
              </a:rPr>
              <a:t>The flat, normalised fields are assembled into the shape TSS expects: </a:t>
            </a:r>
            <a:r>
              <a:rPr sz="1250" b="1" i="0">
                <a:solidFill>
                  <a:srgbClr val="EAF1F8"/>
                </a:solidFill>
                <a:latin typeface="Segoe UI"/>
              </a:rPr>
              <a:t>one header → many consignments → up to 99 goods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, each with its own nested arrays.</a:t>
            </a:r>
          </a:p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250" b="0" i="0">
                <a:solidFill>
                  <a:srgbClr val="C3D3E3"/>
                </a:solidFill>
                <a:latin typeface="Segoe UI"/>
              </a:rPr>
              <a:t>Rows are written to the 13 </a:t>
            </a:r>
            <a:r>
              <a:rPr sz="1250" b="1" i="0">
                <a:solidFill>
                  <a:srgbClr val="4FB0D6"/>
                </a:solidFill>
                <a:latin typeface="Consolas"/>
              </a:rPr>
              <a:t>PRS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 tables with an upsert on MovementKey — re-processing updates in place, never duplicates.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40480"/>
            <a:ext cx="2468880" cy="105156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4041648"/>
            <a:ext cx="1993392" cy="685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KEYS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00" b="0" i="0">
                <a:solidFill>
                  <a:srgbClr val="C3D3E3"/>
                </a:solidFill>
                <a:latin typeface="Segoe UI"/>
              </a:rPr>
              <a:t>Surrogate …RowID PKs; business keys on MovementKey &amp; ordinals.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3840480"/>
            <a:ext cx="2468880" cy="105156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8184" y="4041648"/>
            <a:ext cx="1993392" cy="685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SPINE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00" b="0" i="0">
                <a:solidFill>
                  <a:srgbClr val="C3D3E3"/>
                </a:solidFill>
                <a:latin typeface="Segoe UI"/>
              </a:rPr>
              <a:t>ExecutionID + TransactionID on every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783080"/>
            <a:ext cx="4785055" cy="3611880"/>
          </a:xfrm>
          <a:prstGeom prst="roundRect">
            <a:avLst>
              <a:gd name="adj" fmla="val 4000"/>
            </a:avLst>
          </a:prstGeom>
          <a:solidFill>
            <a:srgbClr val="071728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011680"/>
            <a:ext cx="4236415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40">
                <a:solidFill>
                  <a:srgbClr val="D9A23B"/>
                </a:solidFill>
                <a:latin typeface="Consolas"/>
              </a:rPr>
              <a:t>PRS OBJECT GRAPH · 13 TABLES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1" i="0">
                <a:solidFill>
                  <a:srgbClr val="EAF1F8"/>
                </a:solidFill>
                <a:latin typeface="Consolas"/>
              </a:rPr>
              <a:t>▸ PRS.ENS_Header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D9A23B"/>
                </a:solidFill>
                <a:latin typeface="Consolas"/>
              </a:rPr>
              <a:t>   └ PRS.Consignment  ×N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8AA0B6"/>
                </a:solidFill>
                <a:latin typeface="Consolas"/>
              </a:rPr>
              <a:t>        ├ PreviousDocument · HolderOfAuthorisation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D9A23B"/>
                </a:solidFill>
                <a:latin typeface="Consolas"/>
              </a:rPr>
              <a:t>        └ PRS.Goods_Item  ×≤99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8AA0B6"/>
                </a:solidFill>
                <a:latin typeface="Consolas"/>
              </a:rPr>
              <a:t>              ├ AdditionalProcedure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8AA0B6"/>
                </a:solidFill>
                <a:latin typeface="Consolas"/>
              </a:rPr>
              <a:t>              ├ DocumentReference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8AA0B6"/>
                </a:solidFill>
                <a:latin typeface="Consolas"/>
              </a:rPr>
              <a:t>              ├ AdditionalInformation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8AA0B6"/>
                </a:solidFill>
                <a:latin typeface="Consolas"/>
              </a:rPr>
              <a:t>              ├ PreviousDocument · ItemAddDed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8AA0B6"/>
                </a:solidFill>
                <a:latin typeface="Consolas"/>
              </a:rPr>
              <a:t>              ├ NationalAdditionalCode · TaxBase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8AA0B6"/>
                </a:solidFill>
                <a:latin typeface="Consolas"/>
              </a:rPr>
              <a:t>              └ AdditionalParties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5440680"/>
            <a:ext cx="1239926" cy="274320"/>
          </a:xfrm>
          <a:prstGeom prst="roundRect">
            <a:avLst>
              <a:gd name="adj" fmla="val 50000"/>
            </a:avLst>
          </a:prstGeom>
          <a:solidFill>
            <a:srgbClr val="0E2440"/>
          </a:solidFill>
          <a:ln w="12700">
            <a:solidFill>
              <a:srgbClr val="4F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 spc="60">
                <a:solidFill>
                  <a:srgbClr val="4FB0D6"/>
                </a:solidFill>
                <a:latin typeface="Consolas"/>
              </a:rPr>
              <a:t>→ CONSTRUCTED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08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CHECKPOINT 04 · VALIDATE · DP-FR-04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Pass, or fail with a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1208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0" i="0">
                <a:solidFill>
                  <a:srgbClr val="C3D3E3"/>
                </a:solidFill>
                <a:latin typeface="Segoe UI"/>
              </a:rPr>
              <a:t>Three layers of checks run against the constructed movement. The first failure isn't fatal — every failing rule is collected so the reject reason is complete.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D9A23B"/>
                </a:solidFill>
                <a:latin typeface="Segoe UI"/>
              </a:rPr>
              <a:t>1  Always-mandatory — 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the fields TSS requires on every header, consignment and goods line.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D9A23B"/>
                </a:solidFill>
                <a:latin typeface="Segoe UI"/>
              </a:rPr>
              <a:t>2  Conditional — 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rules that fire on a value: Air needs conveyance_ref; controlled goods need commodity_code.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D9A23B"/>
                </a:solidFill>
                <a:latin typeface="Segoe UI"/>
              </a:rPr>
              <a:t>3  Movement-type · 3a set — </a:t>
            </a:r>
            <a:r>
              <a:rPr sz="1250" b="0" i="0">
                <a:solidFill>
                  <a:srgbClr val="C3D3E3"/>
                </a:solidFill>
                <a:latin typeface="Segoe UI"/>
              </a:rPr>
              <a:t>RoRo Accompanied makes the carrier address block &amp; place fields mandatory (Rule 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783080"/>
            <a:ext cx="4785055" cy="1234440"/>
          </a:xfrm>
          <a:prstGeom prst="roundRect">
            <a:avLst>
              <a:gd name="adj" fmla="val 4500"/>
            </a:avLst>
          </a:prstGeom>
          <a:solidFill>
            <a:srgbClr val="0F2A1E"/>
          </a:solidFill>
          <a:ln w="12700">
            <a:solidFill>
              <a:srgbClr val="2F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67144" y="1984248"/>
            <a:ext cx="430956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6C08A"/>
                </a:solidFill>
                <a:latin typeface="Consolas"/>
              </a:rPr>
              <a:t>PASS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 i="0">
                <a:solidFill>
                  <a:srgbClr val="C3D3E3"/>
                </a:solidFill>
                <a:latin typeface="Segoe UI"/>
              </a:rPr>
              <a:t>All checks clear → header &amp; children marked VALIDATED and persisted, ready for staging.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200400"/>
            <a:ext cx="4785055" cy="1783080"/>
          </a:xfrm>
          <a:prstGeom prst="roundRect">
            <a:avLst>
              <a:gd name="adj" fmla="val 4500"/>
            </a:avLst>
          </a:prstGeom>
          <a:solidFill>
            <a:srgbClr val="2A1614"/>
          </a:solidFill>
          <a:ln w="12700">
            <a:solidFill>
              <a:srgbClr val="6B3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67144" y="3401568"/>
            <a:ext cx="4309567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5685F"/>
                </a:solidFill>
                <a:latin typeface="Consolas"/>
              </a:rPr>
              <a:t>FAIL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 i="0">
                <a:solidFill>
                  <a:srgbClr val="C3D3E3"/>
                </a:solidFill>
                <a:latin typeface="Segoe UI"/>
              </a:rPr>
              <a:t>Status REJECTED; the reason written to RejectReason and LOG.Error_Log: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000" b="0" i="0">
                <a:solidFill>
                  <a:srgbClr val="E9B3AE"/>
                </a:solidFill>
                <a:latin typeface="Consolas"/>
              </a:rPr>
              <a:t>header.carrier_name mandatory for movement_type 3a; consignment.container_indicator required 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09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TRUST · DP-FR-06 · FIELD-LEVEL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Every change explains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3D3E3"/>
                </a:solidFill>
                <a:latin typeface="Segoe UI"/>
              </a:rPr>
              <a:t>Whenever a value is set, changed or cleared, one row goes to </a:t>
            </a:r>
            <a:r>
              <a:rPr sz="1200" b="1" i="0">
                <a:solidFill>
                  <a:srgbClr val="4FB0D6"/>
                </a:solidFill>
                <a:latin typeface="Consolas"/>
              </a:rPr>
              <a:t>EXC.Data_Processing_Enhancement</a:t>
            </a:r>
            <a:r>
              <a:rPr sz="1200" b="0" i="0">
                <a:solidFill>
                  <a:srgbClr val="C3D3E3"/>
                </a:solidFill>
                <a:latin typeface="Segoe UI"/>
              </a:rPr>
              <a:t> — old value, new value, the rule, the TransactionID. A real trace of movement </a:t>
            </a:r>
            <a:r>
              <a:rPr sz="1200" b="1" i="0">
                <a:solidFill>
                  <a:srgbClr val="D9A23B"/>
                </a:solidFill>
                <a:latin typeface="Consolas"/>
              </a:rPr>
              <a:t>2026-06-26|ICR123</a:t>
            </a:r>
            <a:r>
              <a:rPr sz="1200" b="0" i="0">
                <a:solidFill>
                  <a:srgbClr val="C3D3E3"/>
                </a:solidFill>
                <a:latin typeface="Segoe UI"/>
              </a:rPr>
              <a:t>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37215" cy="2926080"/>
          </a:xfrm>
          <a:prstGeom prst="roundRect">
            <a:avLst>
              <a:gd name="adj" fmla="val 3500"/>
            </a:avLst>
          </a:prstGeom>
          <a:solidFill>
            <a:srgbClr val="071728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23160"/>
            <a:ext cx="10637215" cy="384048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1008857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 spc="60">
                <a:solidFill>
                  <a:srgbClr val="8AA0B6"/>
                </a:solidFill>
                <a:latin typeface="Consolas"/>
              </a:rPr>
              <a:t>EXC.Data_Processing_Enhancement   ·   MK=2026-06-26|ICR123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1008857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 i="0">
                <a:solidFill>
                  <a:srgbClr val="4FB0D6"/>
                </a:solidFill>
                <a:latin typeface="Consolas"/>
              </a:rPr>
              <a:t>arrival_date_time     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"Tomorrow's Date / 06:30"  </a:t>
            </a:r>
            <a:r>
              <a:rPr sz="1050" b="0" i="0">
                <a:solidFill>
                  <a:srgbClr val="56708C"/>
                </a:solidFill>
                <a:latin typeface="Consolas"/>
              </a:rPr>
              <a:t>→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26/06/2026 06:30:00 </a:t>
            </a:r>
            <a:r>
              <a:rPr sz="1050" b="0" i="0">
                <a:solidFill>
                  <a:srgbClr val="D9A23B"/>
                </a:solidFill>
                <a:latin typeface="Consolas"/>
              </a:rPr>
              <a:t>  [Rule 4]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 i="0">
                <a:solidFill>
                  <a:srgbClr val="4FB0D6"/>
                </a:solidFill>
                <a:latin typeface="Consolas"/>
              </a:rPr>
              <a:t>arrival_port          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(empty)  </a:t>
            </a:r>
            <a:r>
              <a:rPr sz="1050" b="0" i="0">
                <a:solidFill>
                  <a:srgbClr val="56708C"/>
                </a:solidFill>
                <a:latin typeface="Consolas"/>
              </a:rPr>
              <a:t>→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GBAUBELBELBEL       </a:t>
            </a:r>
            <a:r>
              <a:rPr sz="1050" b="0" i="0">
                <a:solidFill>
                  <a:srgbClr val="D9A23B"/>
                </a:solidFill>
                <a:latin typeface="Consolas"/>
              </a:rPr>
              <a:t>  [Rule 12]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 i="0">
                <a:solidFill>
                  <a:srgbClr val="4FB0D6"/>
                </a:solidFill>
                <a:latin typeface="Consolas"/>
              </a:rPr>
              <a:t>transport_charges     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(empty)  </a:t>
            </a:r>
            <a:r>
              <a:rPr sz="1050" b="0" i="0">
                <a:solidFill>
                  <a:srgbClr val="56708C"/>
                </a:solidFill>
                <a:latin typeface="Consolas"/>
              </a:rPr>
              <a:t>→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Y                   </a:t>
            </a:r>
            <a:r>
              <a:rPr sz="1050" b="0" i="0">
                <a:solidFill>
                  <a:srgbClr val="D9A23B"/>
                </a:solidFill>
                <a:latin typeface="Consolas"/>
              </a:rPr>
              <a:t>  [Rule 11]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 i="0">
                <a:solidFill>
                  <a:srgbClr val="4FB0D6"/>
                </a:solidFill>
                <a:latin typeface="Consolas"/>
              </a:rPr>
              <a:t>goods_domestic_status 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(empty)  </a:t>
            </a:r>
            <a:r>
              <a:rPr sz="1050" b="0" i="0">
                <a:solidFill>
                  <a:srgbClr val="56708C"/>
                </a:solidFill>
                <a:latin typeface="Consolas"/>
              </a:rPr>
              <a:t>→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D                   </a:t>
            </a:r>
            <a:r>
              <a:rPr sz="1050" b="0" i="0">
                <a:solidFill>
                  <a:srgbClr val="D9A23B"/>
                </a:solidFill>
                <a:latin typeface="Consolas"/>
              </a:rPr>
              <a:t>  [Rule 10]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 i="0">
                <a:solidFill>
                  <a:srgbClr val="4FB0D6"/>
                </a:solidFill>
                <a:latin typeface="Consolas"/>
              </a:rPr>
              <a:t>importer_eori         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(empty)  </a:t>
            </a:r>
            <a:r>
              <a:rPr sz="1050" b="0" i="0">
                <a:solidFill>
                  <a:srgbClr val="56708C"/>
                </a:solidFill>
                <a:latin typeface="Consolas"/>
              </a:rPr>
              <a:t>→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XI379692092000      </a:t>
            </a:r>
            <a:r>
              <a:rPr sz="1050" b="0" i="0">
                <a:solidFill>
                  <a:srgbClr val="D9A23B"/>
                </a:solidFill>
                <a:latin typeface="Consolas"/>
              </a:rPr>
              <a:t>  [Rule 13]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 i="0">
                <a:solidFill>
                  <a:srgbClr val="4FB0D6"/>
                </a:solidFill>
                <a:latin typeface="Consolas"/>
              </a:rPr>
              <a:t>consignor_eori        </a:t>
            </a:r>
            <a:r>
              <a:rPr sz="1050" b="0" i="0">
                <a:solidFill>
                  <a:srgbClr val="8AA0B6"/>
                </a:solidFill>
                <a:latin typeface="Consolas"/>
              </a:rPr>
              <a:t>(empty)  </a:t>
            </a:r>
            <a:r>
              <a:rPr sz="1050" b="0" i="0">
                <a:solidFill>
                  <a:srgbClr val="56708C"/>
                </a:solidFill>
                <a:latin typeface="Consolas"/>
              </a:rPr>
              <a:t>→ </a:t>
            </a:r>
            <a:r>
              <a:rPr sz="1050" b="0" i="0">
                <a:solidFill>
                  <a:srgbClr val="F0E3C4"/>
                </a:solidFill>
                <a:latin typeface="Consolas"/>
              </a:rPr>
              <a:t>XI379692092000      </a:t>
            </a:r>
            <a:r>
              <a:rPr sz="1050" b="0" i="0">
                <a:solidFill>
                  <a:srgbClr val="D9A23B"/>
                </a:solidFill>
                <a:latin typeface="Consolas"/>
              </a:rPr>
              <a:t>  [Rule 13]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00" b="0" i="0">
                <a:solidFill>
                  <a:srgbClr val="46C08A"/>
                </a:solidFill>
                <a:latin typeface="Consolas"/>
              </a:rPr>
              <a:t>TXN  ENS_HEADER  NORMALISING → ENRICHING → CONSTRUCTING → VALIDATING →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A0B6"/>
                </a:solidFill>
                <a:latin typeface="Segoe UI"/>
              </a:rPr>
              <a:t>Only genuine changes are logged — no-op writes are skipped — so the table is a true field-level changelog, not noise.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10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OPERATIONS · SAFE TO RUN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Re-runs don't double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35727" cy="137160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075688"/>
            <a:ext cx="46602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MODE · LATEST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 i="0">
                <a:solidFill>
                  <a:srgbClr val="C3D3E3"/>
                </a:solidFill>
                <a:latin typeface="Segoe UI"/>
              </a:rPr>
              <a:t>Picks up the most recent INGESTED rows with no VALIDATED / REJECTED PRS header yet. The normal scheduled path — process what's new.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135727" cy="137160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6471" y="2075688"/>
            <a:ext cx="46602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MODE · EXPLICIT EXECUTIONID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 i="0">
                <a:solidFill>
                  <a:srgbClr val="C3D3E3"/>
                </a:solidFill>
                <a:latin typeface="Segoe UI"/>
              </a:rPr>
              <a:t>Re-processes a specific load. CONSTRUCT upserts on MovementKey and ordinals, so rows update in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0440"/>
            <a:ext cx="10637215" cy="155448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D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3721608"/>
            <a:ext cx="10161727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D9A23B"/>
                </a:solidFill>
                <a:latin typeface="Consolas"/>
              </a:rPr>
              <a:t>THE GUARANTEE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00" b="0" i="0">
                <a:solidFill>
                  <a:srgbClr val="C3D3E3"/>
                </a:solidFill>
                <a:latin typeface="Segoe UI"/>
              </a:rPr>
              <a:t>Because the audit only logs real changes, a clean re-run produces </a:t>
            </a:r>
            <a:r>
              <a:rPr sz="1300" b="1" i="0">
                <a:solidFill>
                  <a:srgbClr val="EAF1F8"/>
                </a:solidFill>
                <a:latin typeface="Segoe UI"/>
              </a:rPr>
              <a:t>zero spurious enhancement rows</a:t>
            </a:r>
            <a:r>
              <a:rPr sz="1300" b="0" i="0">
                <a:solidFill>
                  <a:srgbClr val="C3D3E3"/>
                </a:solidFill>
                <a:latin typeface="Segoe UI"/>
              </a:rPr>
              <a:t>. And PROCESSING_DRY_RUN=1 runs the whole pipeline, prints everything, and writes nothing — perfect for a pre-flight check.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11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4652"/>
            <a:ext cx="292608" cy="16459"/>
          </a:xfrm>
          <a:prstGeom prst="rect">
            <a:avLst/>
          </a:prstGeom>
          <a:solidFill>
            <a:srgbClr val="4F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102531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4FB0D6"/>
                </a:solidFill>
                <a:latin typeface="Consolas"/>
              </a:rPr>
              <a:t>THE BUILD · SEPARATION OF CONCERNS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EAF1F8"/>
                </a:solidFill>
                <a:latin typeface="Segoe UI"/>
              </a:rPr>
              <a:t>Where the logic lives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135727" cy="96012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029968"/>
            <a:ext cx="46602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MAPPING.PY · PURE DATA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C3D3E3"/>
                </a:solidFill>
                <a:latin typeface="Segoe UI"/>
              </a:rPr>
              <a:t>Column maps, BKD constants, validation rule tables. Change a rule here — never in the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44368"/>
            <a:ext cx="5135727" cy="96012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3145536"/>
            <a:ext cx="46602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PROCESS_DATA.PY · THE ENGINE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C3D3E3"/>
                </a:solidFill>
                <a:latin typeface="Segoe UI"/>
              </a:rPr>
              <a:t>The four stages, the DB adapter, the audit writer. Imports mapping.py; talks to the 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59935"/>
            <a:ext cx="5135727" cy="960120"/>
          </a:xfrm>
          <a:prstGeom prst="roundRect">
            <a:avLst>
              <a:gd name="adj" fmla="val 4500"/>
            </a:avLst>
          </a:prstGeom>
          <a:solidFill>
            <a:srgbClr val="122A46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4261103"/>
            <a:ext cx="46602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010 + 011 · SQL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 i="0">
                <a:solidFill>
                  <a:srgbClr val="C3D3E3"/>
                </a:solidFill>
                <a:latin typeface="Segoe UI"/>
              </a:rPr>
              <a:t>The 13 PRS tables, and the run-control parameters seeded into CFG (insert-only, operator-owned).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5135727" cy="1508760"/>
          </a:xfrm>
          <a:prstGeom prst="roundRect">
            <a:avLst>
              <a:gd name="adj" fmla="val 4500"/>
            </a:avLst>
          </a:prstGeom>
          <a:solidFill>
            <a:srgbClr val="0C2C41"/>
          </a:solidFill>
          <a:ln w="12700">
            <a:solidFill>
              <a:srgbClr val="235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471" y="2029968"/>
            <a:ext cx="46602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4FB0D6"/>
                </a:solidFill>
                <a:latin typeface="Consolas"/>
              </a:rPr>
              <a:t>QUALITY GATE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00" b="0" i="0">
                <a:solidFill>
                  <a:srgbClr val="C3D3E3"/>
                </a:solidFill>
                <a:latin typeface="Segoe UI"/>
              </a:rPr>
              <a:t>Delivered by an Architect → PM → 3 Dev → QA team. QA caught four real defects — a kwarg mismatch, a flat-vs-nested rule bug that silenced Rules 10/11/12, a conditional-rule crash and a source-alias clobber — all fixed and re-verified before commit.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3474720"/>
            <a:ext cx="5135727" cy="1600200"/>
          </a:xfrm>
          <a:prstGeom prst="roundRect">
            <a:avLst>
              <a:gd name="adj" fmla="val 4500"/>
            </a:avLst>
          </a:prstGeom>
          <a:solidFill>
            <a:srgbClr val="2A2110"/>
          </a:solidFill>
          <a:ln w="12700">
            <a:solidFill>
              <a:srgbClr val="D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471" y="3675887"/>
            <a:ext cx="466023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D9A23B"/>
                </a:solidFill>
                <a:latin typeface="Consolas"/>
              </a:rPr>
              <a:t>ONE OPEN QUESTION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00" b="0" i="0">
                <a:solidFill>
                  <a:srgbClr val="C3D3E3"/>
                </a:solidFill>
                <a:latin typeface="Segoe UI"/>
              </a:rPr>
              <a:t>The BKD ENS source doesn't carry the carrier address block or container_indicator, yet a 3a movement requires them. Where should those come from — a fixed carrier config row, or another source field? That's the decision before the first live end-to-end run.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777240" y="6492240"/>
            <a:ext cx="109728" cy="109728"/>
          </a:xfrm>
          <a:prstGeom prst="diamond">
            <a:avLst/>
          </a:prstGeom>
          <a:solidFill>
            <a:srgbClr val="D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EAF1F8"/>
                </a:solidFill>
                <a:latin typeface="Consolas"/>
              </a:rPr>
              <a:t>SYNOVIA</a:t>
            </a:r>
            <a:r>
              <a:rPr sz="950" b="0" i="0" spc="100">
                <a:solidFill>
                  <a:srgbClr val="8AA0B6"/>
                </a:solidFill>
                <a:latin typeface="Consolas"/>
              </a:rPr>
              <a:t> FUSION — Fusion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655" y="64465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4FB0D6"/>
                </a:solidFill>
                <a:latin typeface="Consolas"/>
              </a:rPr>
              <a:t>12</a:t>
            </a:r>
            <a:r>
              <a:rPr sz="950" b="0" i="0">
                <a:solidFill>
                  <a:srgbClr val="8AA0B6"/>
                </a:solidFill>
                <a:latin typeface="Consolas"/>
              </a:rPr>
              <a:t>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