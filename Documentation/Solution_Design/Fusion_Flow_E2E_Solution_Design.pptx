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novia-rout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ynovia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1737360" cy="7687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317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320">
                <a:solidFill>
                  <a:srgbClr val="7FC2F0"/>
                </a:solidFill>
                <a:latin typeface="Consolas"/>
              </a:rPr>
              <a:t>END-TO-END SOLUTION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9875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EAF2FB"/>
                </a:solidFill>
                <a:latin typeface="Segoe UI"/>
              </a:rPr>
              <a:t>Fusion Flow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2200" b="0" i="0">
                <a:solidFill>
                  <a:srgbClr val="CFE2F5"/>
                </a:solidFill>
                <a:latin typeface="Segoe UI"/>
              </a:rPr>
              <a:t>TSS Declaration Automation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AFC6E0"/>
                </a:solidFill>
                <a:latin typeface="Segoe UI"/>
              </a:rPr>
              <a:t>Multi-tenant GB → NI customs declarations under the Windsor Framework — ingest, enrich, validate, submit and reconcile, end to 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23560"/>
            <a:ext cx="4023360" cy="27432"/>
          </a:xfrm>
          <a:prstGeom prst="rect">
            <a:avLst/>
          </a:prstGeom>
          <a:solidFill>
            <a:srgbClr val="C08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5897880"/>
            <a:ext cx="1145743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900" b="0" i="0" spc="60">
                <a:solidFill>
                  <a:srgbClr val="86A6C8"/>
                </a:solidFill>
                <a:latin typeface="Consolas"/>
              </a:rPr>
              <a:t>RELEASE  </a:t>
            </a:r>
            <a:r>
              <a:rPr sz="900" b="1" i="0">
                <a:solidFill>
                  <a:srgbClr val="CFE2F5"/>
                </a:solidFill>
                <a:latin typeface="Consolas"/>
              </a:rPr>
              <a:t>R1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15007" y="5897880"/>
            <a:ext cx="1904695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900" b="0" i="0" spc="60">
                <a:solidFill>
                  <a:srgbClr val="86A6C8"/>
                </a:solidFill>
                <a:latin typeface="Consolas"/>
              </a:rPr>
              <a:t>PILOT  </a:t>
            </a:r>
            <a:r>
              <a:rPr sz="900" b="1" i="0">
                <a:solidFill>
                  <a:srgbClr val="CFE2F5"/>
                </a:solidFill>
                <a:latin typeface="Consolas"/>
              </a:rPr>
              <a:t>Birkdale · BKD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6006" y="5897880"/>
            <a:ext cx="2284171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900" b="0" i="0" spc="60">
                <a:solidFill>
                  <a:srgbClr val="86A6C8"/>
                </a:solidFill>
                <a:latin typeface="Consolas"/>
              </a:rPr>
              <a:t>ROUTE  </a:t>
            </a:r>
            <a:r>
              <a:rPr sz="900" b="1" i="0">
                <a:solidFill>
                  <a:srgbClr val="CFE2F5"/>
                </a:solidFill>
                <a:latin typeface="Consolas"/>
              </a:rPr>
              <a:t>A · ENS→SFD→GMR→SDI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96481" y="5897880"/>
            <a:ext cx="2208276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55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900" b="0" i="0" spc="60">
                <a:solidFill>
                  <a:srgbClr val="86A6C8"/>
                </a:solidFill>
                <a:latin typeface="Consolas"/>
              </a:rPr>
              <a:t>STACK  </a:t>
            </a:r>
            <a:r>
              <a:rPr sz="900" b="1" i="0">
                <a:solidFill>
                  <a:srgbClr val="CFE2F5"/>
                </a:solidFill>
                <a:latin typeface="Consolas"/>
              </a:rPr>
              <a:t>Python · Azure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novi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1783080" cy="2971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1135" y="42062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 spc="180">
                <a:solidFill>
                  <a:srgbClr val="7C8DA4"/>
                </a:solidFill>
                <a:latin typeface="Consolas"/>
              </a:rPr>
              <a:t>SOLUTION DESIGN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41248"/>
            <a:ext cx="10545775" cy="12801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280160" cy="23774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152144"/>
            <a:ext cx="274320" cy="16459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07899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7FC4"/>
                </a:solidFill>
                <a:latin typeface="Consolas"/>
              </a:rPr>
              <a:t>OVERVIEW · DOCUMENT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5233F"/>
                </a:solidFill>
                <a:latin typeface="Segoe UI"/>
              </a:rPr>
              <a:t>Document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828800"/>
            <a:ext cx="242125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 spc="100">
                <a:solidFill>
                  <a:srgbClr val="7C8DA4"/>
                </a:solidFill>
                <a:latin typeface="Consolas"/>
              </a:rPr>
              <a:t>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8810" y="1828800"/>
            <a:ext cx="431949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 spc="100">
                <a:solidFill>
                  <a:srgbClr val="7C8DA4"/>
                </a:solidFill>
                <a:latin typeface="Consolas"/>
              </a:rPr>
              <a:t>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8035" y="1828800"/>
            <a:ext cx="15775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 spc="100">
                <a:solidFill>
                  <a:srgbClr val="7C8DA4"/>
                </a:solidFill>
                <a:latin typeface="Consolas"/>
              </a:rPr>
              <a:t>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359" y="1828800"/>
            <a:ext cx="1788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 spc="100">
                <a:solidFill>
                  <a:srgbClr val="7C8DA4"/>
                </a:solidFill>
                <a:latin typeface="Consolas"/>
              </a:rPr>
              <a:t>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121408"/>
            <a:ext cx="10545775" cy="12801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2212847"/>
            <a:ext cx="242125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1546F"/>
                </a:solidFill>
                <a:latin typeface="Segoe UI"/>
              </a:rPr>
              <a:t>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8810" y="2212847"/>
            <a:ext cx="431949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5233F"/>
                </a:solidFill>
                <a:latin typeface="Segoe UI"/>
              </a:rPr>
              <a:t>Fusion Flow R1 — Solution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8035" y="2212847"/>
            <a:ext cx="15775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1546F"/>
                </a:solidFill>
                <a:latin typeface="Segoe UI"/>
              </a:rPr>
              <a:t>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359" y="2212847"/>
            <a:ext cx="178851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5233F"/>
                </a:solidFill>
                <a:latin typeface="Segoe UI"/>
              </a:rPr>
              <a:t>1.0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587751"/>
            <a:ext cx="10545775" cy="7315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2688335"/>
            <a:ext cx="242125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1546F"/>
                </a:solidFill>
                <a:latin typeface="Segoe UI"/>
              </a:rPr>
              <a:t>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810" y="2688335"/>
            <a:ext cx="431949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5233F"/>
                </a:solidFill>
                <a:latin typeface="Segoe UI"/>
              </a:rPr>
              <a:t>Integration &amp; Systems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8035" y="2688335"/>
            <a:ext cx="15775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1546F"/>
                </a:solidFill>
                <a:latin typeface="Segoe UI"/>
              </a:rPr>
              <a:t>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359" y="2688335"/>
            <a:ext cx="178851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5233F"/>
                </a:solidFill>
                <a:latin typeface="Segoe UI"/>
              </a:rPr>
              <a:t>26 Jun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063239"/>
            <a:ext cx="10545775" cy="7315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3163823"/>
            <a:ext cx="242125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1546F"/>
                </a:solidFill>
                <a:latin typeface="Segoe UI"/>
              </a:rPr>
              <a:t>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8810" y="3163823"/>
            <a:ext cx="431949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5233F"/>
                </a:solidFill>
                <a:latin typeface="Segoe UI"/>
              </a:rPr>
              <a:t>Synovia Fusion / Fusion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8035" y="3163823"/>
            <a:ext cx="15775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1546F"/>
                </a:solidFill>
                <a:latin typeface="Segoe UI"/>
              </a:rPr>
              <a:t>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5359" y="3163823"/>
            <a:ext cx="178851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C98A2B"/>
                </a:solidFill>
                <a:latin typeface="Segoe UI"/>
              </a:rPr>
              <a:t>For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3538727"/>
            <a:ext cx="10545775" cy="7315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3639311"/>
            <a:ext cx="242125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1546F"/>
                </a:solidFill>
                <a:latin typeface="Segoe UI"/>
              </a:rPr>
              <a:t>Spec 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8810" y="3639311"/>
            <a:ext cx="431949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5233F"/>
                </a:solidFill>
                <a:latin typeface="Segoe UI"/>
              </a:rPr>
              <a:t>TSS API v2.9.5 · Data Guide Jun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38035" y="3639311"/>
            <a:ext cx="15775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1546F"/>
                </a:solidFill>
                <a:latin typeface="Segoe UI"/>
              </a:rPr>
              <a:t>Class.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5359" y="3639311"/>
            <a:ext cx="178851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5233F"/>
                </a:solidFill>
                <a:latin typeface="Segoe UI"/>
              </a:rPr>
              <a:t>Internal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4014215"/>
            <a:ext cx="10545775" cy="7315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114799"/>
            <a:ext cx="242125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1546F"/>
                </a:solidFill>
                <a:latin typeface="Segoe UI"/>
              </a:rPr>
              <a:t>Pilot client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8810" y="4114799"/>
            <a:ext cx="431949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5233F"/>
                </a:solidFill>
                <a:latin typeface="Segoe UI"/>
              </a:rPr>
              <a:t>Birkdale (BKD) — Route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38035" y="4114799"/>
            <a:ext cx="15775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1546F"/>
                </a:solidFill>
                <a:latin typeface="Segoe UI"/>
              </a:rPr>
              <a:t>Build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5359" y="4114799"/>
            <a:ext cx="178851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5233F"/>
                </a:solidFill>
                <a:latin typeface="Segoe UI"/>
              </a:rPr>
              <a:t>Release 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4489703"/>
            <a:ext cx="10545775" cy="7315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2960" y="4754880"/>
            <a:ext cx="10545775" cy="123444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0704" y="4937760"/>
            <a:ext cx="10070287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2F7FC4"/>
                </a:solidFill>
                <a:latin typeface="Consolas"/>
              </a:rPr>
              <a:t>RELATED ARTEFACTS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50" b="0" i="0">
                <a:solidFill>
                  <a:srgbClr val="41546F"/>
                </a:solidFill>
                <a:latin typeface="Segoe UI"/>
              </a:rPr>
              <a:t>Functional Specification (R1)  ·  TSS API Reference v2.9.5  ·  TSS Data Guide (Jun 2026)  ·  TSS API Data Model × Process Overlay  ·  Database setup migrations 000–011  ·  PRS Processing Module deck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6400800"/>
            <a:ext cx="10545775" cy="10972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6473952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 spc="80">
                <a:solidFill>
                  <a:srgbClr val="7C8DA4"/>
                </a:solidFill>
                <a:latin typeface="Consolas"/>
              </a:rPr>
              <a:t>Fusion Flow · End-to-End Solution Design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39935" y="6473952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F7FC4"/>
                </a:solidFill>
                <a:latin typeface="Consolas"/>
              </a:rPr>
              <a:t>02</a:t>
            </a:r>
            <a:r>
              <a:rPr sz="900" b="0" i="0">
                <a:solidFill>
                  <a:srgbClr val="7C8DA4"/>
                </a:solidFill>
                <a:latin typeface="Consolas"/>
              </a:rPr>
              <a:t>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novi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1783080" cy="2971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1135" y="42062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 spc="180">
                <a:solidFill>
                  <a:srgbClr val="7C8DA4"/>
                </a:solidFill>
                <a:latin typeface="Consolas"/>
              </a:rPr>
              <a:t>SOLUTION DESIGN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41248"/>
            <a:ext cx="10545775" cy="12801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280160" cy="23774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152144"/>
            <a:ext cx="274320" cy="16459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07899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7FC4"/>
                </a:solidFill>
                <a:latin typeface="Consolas"/>
              </a:rPr>
              <a:t>OVERVIEW · 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5233F"/>
                </a:solidFill>
                <a:latin typeface="Segoe UI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41546F"/>
                </a:solidFill>
                <a:latin typeface="Segoe UI"/>
              </a:rPr>
              <a:t>Fusion Flow is a multi-tenant platform that automates customs declarations for goods moving Great Britain → Northern Ireland under the Windsor Framework. It ingests commercial movement data from each principal, enriches and validates it into TSS-shaped submission objects, submits the required declarations to the Trader Support Service (TSS) API, and reconciles the responses HMRC/CDS returns. Release 1 delivers the simplified procedure (Route A) end-to-end, with Birkdale as the pilot, on an architecture that is multi-tenant from day 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00400"/>
            <a:ext cx="3271418" cy="169164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3383280"/>
            <a:ext cx="2795930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C0871F"/>
                </a:solidFill>
                <a:latin typeface="Consolas"/>
              </a:rPr>
              <a:t>PRINCIPLE 1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15233F"/>
                </a:solidFill>
                <a:latin typeface="Segoe UI"/>
              </a:rPr>
              <a:t>Layer separation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 i="0">
                <a:solidFill>
                  <a:srgbClr val="41546F"/>
                </a:solidFill>
                <a:latin typeface="Segoe UI"/>
              </a:rPr>
              <a:t>Each pipeline stage is its own SQL schema — 11 in all — so responsibilities never bleed across boundaries.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0138" y="3200400"/>
            <a:ext cx="3271418" cy="169164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7882" y="3383280"/>
            <a:ext cx="2795930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C0871F"/>
                </a:solidFill>
                <a:latin typeface="Consolas"/>
              </a:rPr>
              <a:t>PRINCIPLE 2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15233F"/>
                </a:solidFill>
                <a:latin typeface="Segoe UI"/>
              </a:rPr>
              <a:t>One audit spine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 i="0">
                <a:solidFill>
                  <a:srgbClr val="41546F"/>
                </a:solidFill>
                <a:latin typeface="Segoe UI"/>
              </a:rPr>
              <a:t>A single EXC execution / Transaction_ID threads every record; every field change is logged.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3200400"/>
            <a:ext cx="3271418" cy="169164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5060" y="3383280"/>
            <a:ext cx="2795930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C0871F"/>
                </a:solidFill>
                <a:latin typeface="Consolas"/>
              </a:rPr>
              <a:t>PRINCIPLE 3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15233F"/>
                </a:solidFill>
                <a:latin typeface="Segoe UI"/>
              </a:rPr>
              <a:t>Config-driven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 i="0">
                <a:solidFill>
                  <a:srgbClr val="41546F"/>
                </a:solidFill>
                <a:latin typeface="Segoe UI"/>
              </a:rPr>
              <a:t>Client behaviour lives in CFG. Onboarding a principal is a configuration exercise, not a code change.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400800"/>
            <a:ext cx="10545775" cy="10972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73952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 spc="80">
                <a:solidFill>
                  <a:srgbClr val="7C8DA4"/>
                </a:solidFill>
                <a:latin typeface="Consolas"/>
              </a:rPr>
              <a:t>Fusion Flow · End-to-End Solution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9935" y="6473952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F7FC4"/>
                </a:solidFill>
                <a:latin typeface="Consolas"/>
              </a:rPr>
              <a:t>03</a:t>
            </a:r>
            <a:r>
              <a:rPr sz="900" b="0" i="0">
                <a:solidFill>
                  <a:srgbClr val="7C8DA4"/>
                </a:solidFill>
                <a:latin typeface="Consolas"/>
              </a:rPr>
              <a:t>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novi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1783080" cy="2971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1135" y="42062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 spc="180">
                <a:solidFill>
                  <a:srgbClr val="7C8DA4"/>
                </a:solidFill>
                <a:latin typeface="Consolas"/>
              </a:rPr>
              <a:t>SOLUTION DESIGN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41248"/>
            <a:ext cx="10545775" cy="12801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280160" cy="23774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152144"/>
            <a:ext cx="274320" cy="16459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07899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7FC4"/>
                </a:solidFill>
                <a:latin typeface="Consolas"/>
              </a:rPr>
              <a:t>OVERVIEW · SOLUTION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5233F"/>
                </a:solidFill>
                <a:latin typeface="Segoe UI"/>
              </a:rPr>
              <a:t>Solution context — who &amp; 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41546F"/>
                </a:solidFill>
                <a:latin typeface="Segoe UI"/>
              </a:rPr>
              <a:t>Principals (clients) move goods GB→NI and must lodge declarations through TSS. Fusion Flow productionises Birkdale first; Countrywide and Primeline follow the same per-client schema pattern.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88920"/>
            <a:ext cx="327141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" y="3017520"/>
            <a:ext cx="2814218" cy="868680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irkd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333933"/>
            <a:ext cx="2265578" cy="23585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1560" y="4069080"/>
            <a:ext cx="281421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5233F"/>
                </a:solidFill>
                <a:latin typeface="Segoe UI"/>
              </a:rPr>
              <a:t>BKD · Birkdale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050" b="0" i="0">
                <a:solidFill>
                  <a:srgbClr val="41546F"/>
                </a:solidFill>
                <a:latin typeface="Segoe UI"/>
              </a:rPr>
              <a:t>Pilot — Route A live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709160"/>
            <a:ext cx="64739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2E9E6B"/>
                </a:solidFill>
                <a:latin typeface="Consolas"/>
              </a:rPr>
              <a:t>ACTIVE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0138" y="2788920"/>
            <a:ext cx="327141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88738" y="3017520"/>
            <a:ext cx="2814218" cy="868680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untry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058" y="3221266"/>
            <a:ext cx="2265578" cy="46118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88738" y="4069080"/>
            <a:ext cx="281421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5233F"/>
                </a:solidFill>
                <a:latin typeface="Segoe UI"/>
              </a:rPr>
              <a:t>CWF · Countrywide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050" b="0" i="0">
                <a:solidFill>
                  <a:srgbClr val="41546F"/>
                </a:solidFill>
                <a:latin typeface="Segoe UI"/>
              </a:rPr>
              <a:t>Onboarding (fast-follow)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88738" y="4709160"/>
            <a:ext cx="96926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C98A2B"/>
                </a:solidFill>
                <a:latin typeface="Consolas"/>
              </a:rPr>
              <a:t>ONBOARDING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7316" y="2788920"/>
            <a:ext cx="327141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5916" y="3017520"/>
            <a:ext cx="2814218" cy="868680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rimeline-expr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0236" y="3177481"/>
            <a:ext cx="2265578" cy="5487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25916" y="4069080"/>
            <a:ext cx="281421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5233F"/>
                </a:solidFill>
                <a:latin typeface="Segoe UI"/>
              </a:rPr>
              <a:t>PLE · Primeline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050" b="0" i="0">
                <a:solidFill>
                  <a:srgbClr val="41546F"/>
                </a:solidFill>
                <a:latin typeface="Segoe UI"/>
              </a:rPr>
              <a:t>Onboarding (agent / actAs)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5916" y="4709160"/>
            <a:ext cx="96926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C98A2B"/>
                </a:solidFill>
                <a:latin typeface="Consolas"/>
              </a:rPr>
              <a:t>ONBOARDING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0352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DA4"/>
                </a:solidFill>
                <a:latin typeface="Segoe UI"/>
              </a:rPr>
              <a:t>Each principal receives its own schema keyed on its 3-letter code — BKD is illustrative of the pattern.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400800"/>
            <a:ext cx="10545775" cy="10972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473952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 spc="80">
                <a:solidFill>
                  <a:srgbClr val="7C8DA4"/>
                </a:solidFill>
                <a:latin typeface="Consolas"/>
              </a:rPr>
              <a:t>Fusion Flow · End-to-End Solution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9935" y="6473952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F7FC4"/>
                </a:solidFill>
                <a:latin typeface="Consolas"/>
              </a:rPr>
              <a:t>04</a:t>
            </a:r>
            <a:r>
              <a:rPr sz="900" b="0" i="0">
                <a:solidFill>
                  <a:srgbClr val="7C8DA4"/>
                </a:solidFill>
                <a:latin typeface="Consolas"/>
              </a:rPr>
              <a:t>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novia-rout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D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ynovia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1554480" cy="6878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74320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7FC2F0"/>
                </a:solidFill>
                <a:latin typeface="Consolas"/>
              </a:rP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457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EAF2FB"/>
                </a:solidFill>
                <a:latin typeface="Segoe U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AFC6E0"/>
                </a:solidFill>
                <a:latin typeface="Segoe UI"/>
              </a:rPr>
              <a:t>How the platform is organised: eleven schemas, one execution spine, a single status vocabulary.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72384"/>
            <a:ext cx="548640" cy="27432"/>
          </a:xfrm>
          <a:prstGeom prst="rect">
            <a:avLst/>
          </a:prstGeom>
          <a:solidFill>
            <a:srgbClr val="C08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novi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1783080" cy="2971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1135" y="42062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 spc="180">
                <a:solidFill>
                  <a:srgbClr val="7C8DA4"/>
                </a:solidFill>
                <a:latin typeface="Consolas"/>
              </a:rPr>
              <a:t>SOLUTION DESIGN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41248"/>
            <a:ext cx="10545775" cy="12801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280160" cy="23774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152144"/>
            <a:ext cx="274320" cy="16459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07899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7FC4"/>
                </a:solidFill>
                <a:latin typeface="Consolas"/>
              </a:rPr>
              <a:t>ARCHITECTURE · SCHEMA LAYER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5233F"/>
                </a:solidFill>
                <a:latin typeface="Segoe UI"/>
              </a:rPr>
              <a:t>Eleven schemas, one per stage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10545775" cy="429768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28800"/>
            <a:ext cx="192024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407F"/>
                </a:solidFill>
                <a:latin typeface="Consolas"/>
              </a:rPr>
              <a:t>CFG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1828800"/>
            <a:ext cx="725393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1546F"/>
                </a:solidFill>
                <a:latin typeface="Segoe UI"/>
              </a:rPr>
              <a:t>Configuration — settings, clients, routing, choice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5735" y="1828800"/>
            <a:ext cx="9601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C0871F"/>
                </a:solidFill>
                <a:latin typeface="Consolas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318918"/>
            <a:ext cx="10545775" cy="429768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318918"/>
            <a:ext cx="192024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407F"/>
                </a:solidFill>
                <a:latin typeface="Consolas"/>
              </a:rPr>
              <a:t>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79" y="2318918"/>
            <a:ext cx="725393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1546F"/>
                </a:solidFill>
                <a:latin typeface="Segoe UI"/>
              </a:rPr>
              <a:t>Ingestion — inbound artefacts landed verbatim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25735" y="2318918"/>
            <a:ext cx="9601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C0871F"/>
                </a:solidFill>
                <a:latin typeface="Consola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809036"/>
            <a:ext cx="10545775" cy="429768"/>
          </a:xfrm>
          <a:prstGeom prst="roundRect">
            <a:avLst>
              <a:gd name="adj" fmla="val 5000"/>
            </a:avLst>
          </a:prstGeom>
          <a:solidFill>
            <a:srgbClr val="F7EEDA"/>
          </a:solidFill>
          <a:ln w="12700">
            <a:solidFill>
              <a:srgbClr val="C0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809036"/>
            <a:ext cx="192024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871F"/>
                </a:solidFill>
                <a:latin typeface="Consolas"/>
              </a:rPr>
              <a:t>PRS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79" y="2809036"/>
            <a:ext cx="725393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1546F"/>
                </a:solidFill>
                <a:latin typeface="Segoe UI"/>
              </a:rPr>
              <a:t>Processing — canonical, enriched, validated objects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25735" y="2809036"/>
            <a:ext cx="9601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C0871F"/>
                </a:solidFill>
                <a:latin typeface="Consolas"/>
              </a:rPr>
              <a:t>this doc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299155"/>
            <a:ext cx="10545775" cy="429768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299155"/>
            <a:ext cx="192024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407F"/>
                </a:solidFill>
                <a:latin typeface="Consolas"/>
              </a:rPr>
              <a:t>STG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79" y="3299155"/>
            <a:ext cx="725393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1546F"/>
                </a:solidFill>
                <a:latin typeface="Segoe UI"/>
              </a:rPr>
              <a:t>Staging — submission-ready rows in TSS payload shape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25735" y="3299155"/>
            <a:ext cx="9601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C0871F"/>
                </a:solidFill>
                <a:latin typeface="Consolas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789273"/>
            <a:ext cx="10545775" cy="429768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3789273"/>
            <a:ext cx="192024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407F"/>
                </a:solidFill>
                <a:latin typeface="Consolas"/>
              </a:rPr>
              <a:t>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79" y="3789273"/>
            <a:ext cx="725393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1546F"/>
                </a:solidFill>
                <a:latin typeface="Segoe UI"/>
              </a:rPr>
              <a:t>API — full request/response capture + deserialised columns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5735" y="3789273"/>
            <a:ext cx="9601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C0871F"/>
                </a:solidFill>
                <a:latin typeface="Consolas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279392"/>
            <a:ext cx="10545775" cy="429768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279392"/>
            <a:ext cx="192024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407F"/>
                </a:solidFill>
                <a:latin typeface="Consolas"/>
              </a:rPr>
              <a:t>〈client〉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79" y="4279392"/>
            <a:ext cx="725393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1546F"/>
                </a:solidFill>
                <a:latin typeface="Segoe UI"/>
              </a:rPr>
              <a:t>Client schema (BKD…) — TSS responses pulled back &amp; reconciled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5735" y="4279392"/>
            <a:ext cx="9601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C0871F"/>
                </a:solidFill>
                <a:latin typeface="Consolas"/>
              </a:rPr>
              <a:t/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769510"/>
            <a:ext cx="10545775" cy="429768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769510"/>
            <a:ext cx="192024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407F"/>
                </a:solidFill>
                <a:latin typeface="Consolas"/>
              </a:rPr>
              <a:t>CTL / ARC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79" y="4769510"/>
            <a:ext cx="725393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1546F"/>
                </a:solidFill>
                <a:latin typeface="Segoe UI"/>
              </a:rPr>
              <a:t>Control &amp; Archive — authoritative latest status; archived records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5735" y="4769510"/>
            <a:ext cx="9601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C0871F"/>
                </a:solidFill>
                <a:latin typeface="Consolas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259628"/>
            <a:ext cx="10545775" cy="429768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5259628"/>
            <a:ext cx="192024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407F"/>
                </a:solidFill>
                <a:latin typeface="Consolas"/>
              </a:rPr>
              <a:t>SRV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79" y="5259628"/>
            <a:ext cx="725393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1546F"/>
                </a:solidFill>
                <a:latin typeface="Segoe UI"/>
              </a:rPr>
              <a:t>Serve — views &amp; fact tables for reporting and 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25735" y="5259628"/>
            <a:ext cx="9601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C0871F"/>
                </a:solidFill>
                <a:latin typeface="Consolas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9893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C8DA4"/>
                </a:solidFill>
                <a:latin typeface="Segoe UI"/>
              </a:rPr>
              <a:t>Cross-cutting: </a:t>
            </a:r>
            <a:r>
              <a:rPr sz="1100" b="0" i="0">
                <a:solidFill>
                  <a:srgbClr val="17407F"/>
                </a:solidFill>
                <a:latin typeface="Consolas"/>
              </a:rPr>
              <a:t>EXC</a:t>
            </a:r>
            <a:r>
              <a:rPr sz="1100" b="0" i="0">
                <a:solidFill>
                  <a:srgbClr val="7C8DA4"/>
                </a:solidFill>
                <a:latin typeface="Segoe UI"/>
              </a:rPr>
              <a:t> execution &amp; field-level audit spine · </a:t>
            </a:r>
            <a:r>
              <a:rPr sz="1100" b="0" i="0">
                <a:solidFill>
                  <a:srgbClr val="17407F"/>
                </a:solidFill>
                <a:latin typeface="Consolas"/>
              </a:rPr>
              <a:t>LOG</a:t>
            </a:r>
            <a:r>
              <a:rPr sz="1100" b="0" i="0">
                <a:solidFill>
                  <a:srgbClr val="7C8DA4"/>
                </a:solidFill>
                <a:latin typeface="Segoe UI"/>
              </a:rPr>
              <a:t> technical &amp; error traces — both touched at every stage.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6400800"/>
            <a:ext cx="10545775" cy="10972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6473952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 spc="80">
                <a:solidFill>
                  <a:srgbClr val="7C8DA4"/>
                </a:solidFill>
                <a:latin typeface="Consolas"/>
              </a:rPr>
              <a:t>Fusion Flow · End-to-End Solution Design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39935" y="6473952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F7FC4"/>
                </a:solidFill>
                <a:latin typeface="Consolas"/>
              </a:rPr>
              <a:t>06</a:t>
            </a:r>
            <a:r>
              <a:rPr sz="900" b="0" i="0">
                <a:solidFill>
                  <a:srgbClr val="7C8DA4"/>
                </a:solidFill>
                <a:latin typeface="Consolas"/>
              </a:rPr>
              <a:t>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novi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1783080" cy="2971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1135" y="42062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 spc="180">
                <a:solidFill>
                  <a:srgbClr val="7C8DA4"/>
                </a:solidFill>
                <a:latin typeface="Consolas"/>
              </a:rPr>
              <a:t>SOLUTION DESIGN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41248"/>
            <a:ext cx="10545775" cy="12801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280160" cy="23774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152144"/>
            <a:ext cx="274320" cy="16459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07899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7FC4"/>
                </a:solidFill>
                <a:latin typeface="Consolas"/>
              </a:rPr>
              <a:t>ARCHITECTURE · END-TO-END 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5233F"/>
                </a:solidFill>
                <a:latin typeface="Segoe UI"/>
              </a:rPr>
              <a:t>Left to right, source to serve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1302758" cy="86868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21408"/>
            <a:ext cx="1083302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ING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raw landed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7430" y="2011680"/>
            <a:ext cx="274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63462" y="2011680"/>
            <a:ext cx="1302758" cy="86868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3190" y="2121408"/>
            <a:ext cx="1083302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PRS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enrich+validate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7933" y="2011680"/>
            <a:ext cx="274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03965" y="2011680"/>
            <a:ext cx="1302758" cy="86868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13693" y="2121408"/>
            <a:ext cx="1083302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STG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payload shape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8436" y="2011680"/>
            <a:ext cx="274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4468" y="2011680"/>
            <a:ext cx="1302758" cy="86868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54196" y="2121408"/>
            <a:ext cx="1083302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API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TSS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8938" y="2011680"/>
            <a:ext cx="274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84970" y="2011680"/>
            <a:ext cx="1302758" cy="86868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4698" y="2121408"/>
            <a:ext cx="1083302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〈client〉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reconcile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9441" y="2011680"/>
            <a:ext cx="274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25473" y="2011680"/>
            <a:ext cx="1302758" cy="86868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35201" y="2121408"/>
            <a:ext cx="1083302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CTL/ARC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status+archive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9944" y="2011680"/>
            <a:ext cx="274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65976" y="2011680"/>
            <a:ext cx="1302758" cy="86868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75704" y="2121408"/>
            <a:ext cx="1083302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SRV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analytics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154680"/>
            <a:ext cx="1918959" cy="548640"/>
          </a:xfrm>
          <a:prstGeom prst="roundRect">
            <a:avLst>
              <a:gd name="adj" fmla="val 7000"/>
            </a:avLst>
          </a:prstGeom>
          <a:solidFill>
            <a:srgbClr val="F7EEDA"/>
          </a:solidFill>
          <a:ln w="15875">
            <a:solidFill>
              <a:srgbClr val="C0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3264408"/>
            <a:ext cx="169950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M1 Ingestion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23631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C0871F"/>
                </a:solidFill>
                <a:latin typeface="Consolas"/>
              </a:rPr>
              <a:t>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79663" y="3154680"/>
            <a:ext cx="1918959" cy="548640"/>
          </a:xfrm>
          <a:prstGeom prst="roundRect">
            <a:avLst>
              <a:gd name="adj" fmla="val 7000"/>
            </a:avLst>
          </a:prstGeom>
          <a:solidFill>
            <a:srgbClr val="F7EEDA"/>
          </a:solidFill>
          <a:ln w="15875">
            <a:solidFill>
              <a:srgbClr val="C0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89391" y="3264408"/>
            <a:ext cx="169950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M2 Data Processing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80335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C0871F"/>
                </a:solidFill>
                <a:latin typeface="Consolas"/>
              </a:rPr>
              <a:t>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36367" y="3154680"/>
            <a:ext cx="1918959" cy="548640"/>
          </a:xfrm>
          <a:prstGeom prst="roundRect">
            <a:avLst>
              <a:gd name="adj" fmla="val 7000"/>
            </a:avLst>
          </a:prstGeom>
          <a:solidFill>
            <a:srgbClr val="F7EEDA"/>
          </a:solidFill>
          <a:ln w="15875">
            <a:solidFill>
              <a:srgbClr val="C0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46095" y="3264408"/>
            <a:ext cx="169950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M3 Submission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37039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C0871F"/>
                </a:solidFill>
                <a:latin typeface="Consolas"/>
              </a:rPr>
              <a:t>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93071" y="3154680"/>
            <a:ext cx="1918959" cy="548640"/>
          </a:xfrm>
          <a:prstGeom prst="roundRect">
            <a:avLst>
              <a:gd name="adj" fmla="val 7000"/>
            </a:avLst>
          </a:prstGeom>
          <a:solidFill>
            <a:srgbClr val="F7EEDA"/>
          </a:solidFill>
          <a:ln w="15875">
            <a:solidFill>
              <a:srgbClr val="C0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2799" y="3264408"/>
            <a:ext cx="169950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M4 Manage &amp; Monitor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3743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C0871F"/>
                </a:solidFill>
                <a:latin typeface="Consolas"/>
              </a:rPr>
              <a:t>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49775" y="3154680"/>
            <a:ext cx="1918959" cy="548640"/>
          </a:xfrm>
          <a:prstGeom prst="roundRect">
            <a:avLst>
              <a:gd name="adj" fmla="val 7000"/>
            </a:avLst>
          </a:prstGeom>
          <a:solidFill>
            <a:srgbClr val="F7EEDA"/>
          </a:solidFill>
          <a:ln w="15875">
            <a:solidFill>
              <a:srgbClr val="C0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59503" y="3264408"/>
            <a:ext cx="169950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M5 Reporting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384048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7C8DA4"/>
                </a:solidFill>
                <a:latin typeface="Consolas"/>
              </a:rPr>
              <a:t>MODULES MAP ONTO THE SCHEMAS ABOVE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4297680"/>
            <a:ext cx="10545775" cy="77724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4297680"/>
            <a:ext cx="999713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7407F"/>
                </a:solidFill>
                <a:latin typeface="Consolas"/>
              </a:rPr>
              <a:t>CFG </a:t>
            </a:r>
            <a:r>
              <a:rPr sz="1150" b="0" i="0">
                <a:solidFill>
                  <a:srgbClr val="41546F"/>
                </a:solidFill>
                <a:latin typeface="Segoe UI"/>
              </a:rPr>
              <a:t>drives behaviour    </a:t>
            </a:r>
            <a:r>
              <a:rPr sz="1200" b="1" i="0">
                <a:solidFill>
                  <a:srgbClr val="17407F"/>
                </a:solidFill>
                <a:latin typeface="Consolas"/>
              </a:rPr>
              <a:t>EXC.Execution </a:t>
            </a:r>
            <a:r>
              <a:rPr sz="1150" b="0" i="0">
                <a:solidFill>
                  <a:srgbClr val="41546F"/>
                </a:solidFill>
                <a:latin typeface="Segoe UI"/>
              </a:rPr>
              <a:t>carries Transaction_ID + process state    </a:t>
            </a:r>
            <a:r>
              <a:rPr sz="1200" b="1" i="0">
                <a:solidFill>
                  <a:srgbClr val="17407F"/>
                </a:solidFill>
                <a:latin typeface="Consolas"/>
              </a:rPr>
              <a:t>EXC.Data_Processing_Enhancement </a:t>
            </a:r>
            <a:r>
              <a:rPr sz="1150" b="0" i="0">
                <a:solidFill>
                  <a:srgbClr val="41546F"/>
                </a:solidFill>
                <a:latin typeface="Segoe UI"/>
              </a:rPr>
              <a:t>logs every field change    </a:t>
            </a:r>
            <a:r>
              <a:rPr sz="1200" b="1" i="0">
                <a:solidFill>
                  <a:srgbClr val="17407F"/>
                </a:solidFill>
                <a:latin typeface="Consolas"/>
              </a:rPr>
              <a:t>LOG </a:t>
            </a:r>
            <a:r>
              <a:rPr sz="1150" b="0" i="0">
                <a:solidFill>
                  <a:srgbClr val="41546F"/>
                </a:solidFill>
                <a:latin typeface="Segoe UI"/>
              </a:rPr>
              <a:t>captures traces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2578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DA4"/>
                </a:solidFill>
                <a:latin typeface="Segoe UI"/>
              </a:rPr>
              <a:t>A record's position is unambiguous at any time: the process is recorded on EXC.Execution, the resulting status on the working row and surfaced in CTL.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6400800"/>
            <a:ext cx="10545775" cy="10972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6473952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 spc="80">
                <a:solidFill>
                  <a:srgbClr val="7C8DA4"/>
                </a:solidFill>
                <a:latin typeface="Consolas"/>
              </a:rPr>
              <a:t>Fusion Flow · End-to-End Solution Design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39935" y="6473952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F7FC4"/>
                </a:solidFill>
                <a:latin typeface="Consolas"/>
              </a:rPr>
              <a:t>07</a:t>
            </a:r>
            <a:r>
              <a:rPr sz="900" b="0" i="0">
                <a:solidFill>
                  <a:srgbClr val="7C8DA4"/>
                </a:solidFill>
                <a:latin typeface="Consolas"/>
              </a:rPr>
              <a:t>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novia-rout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D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ynovia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1554480" cy="6878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74320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7FC2F0"/>
                </a:solidFill>
                <a:latin typeface="Consolas"/>
              </a:rP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457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EAF2FB"/>
                </a:solidFill>
                <a:latin typeface="Segoe UI"/>
              </a:rPr>
              <a:t>Process 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AFC6E0"/>
                </a:solidFill>
                <a:latin typeface="Segoe UI"/>
              </a:rPr>
              <a:t>The declaration journey and the five modules that drive it, step by step.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72384"/>
            <a:ext cx="548640" cy="27432"/>
          </a:xfrm>
          <a:prstGeom prst="rect">
            <a:avLst/>
          </a:prstGeom>
          <a:solidFill>
            <a:srgbClr val="C08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novi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1783080" cy="2971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1135" y="42062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 spc="180">
                <a:solidFill>
                  <a:srgbClr val="7C8DA4"/>
                </a:solidFill>
                <a:latin typeface="Consolas"/>
              </a:rPr>
              <a:t>SOLUTION DESIGN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41248"/>
            <a:ext cx="10545775" cy="12801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280160" cy="23774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152144"/>
            <a:ext cx="274320" cy="16459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07899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7FC4"/>
                </a:solidFill>
                <a:latin typeface="Consolas"/>
              </a:rPr>
              <a:t>PROCESS FLOW · ROUTE A DECLARATION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5233F"/>
                </a:solidFill>
                <a:latin typeface="Segoe UI"/>
              </a:rPr>
              <a:t>ENS → SFD → GMR → Supplementary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60">
                <a:solidFill>
                  <a:srgbClr val="2F7FC4"/>
                </a:solidFill>
                <a:latin typeface="Consolas"/>
              </a:rPr>
              <a:t>PRE-MOVEMENT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03120"/>
            <a:ext cx="1933590" cy="77724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12848"/>
            <a:ext cx="1714134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F7FC4"/>
                </a:solidFill>
                <a:latin typeface="Consolas"/>
              </a:rPr>
              <a:t>1  </a:t>
            </a:r>
            <a:r>
              <a:rPr sz="1150" b="1" i="0">
                <a:solidFill>
                  <a:srgbClr val="15233F"/>
                </a:solidFill>
                <a:latin typeface="Segoe UI"/>
              </a:rPr>
              <a:t>Header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POST /headers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8262" y="2103120"/>
            <a:ext cx="25603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6006" y="2103120"/>
            <a:ext cx="1933590" cy="77724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5734" y="2212848"/>
            <a:ext cx="1714134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F7FC4"/>
                </a:solidFill>
                <a:latin typeface="Consolas"/>
              </a:rPr>
              <a:t>2  </a:t>
            </a:r>
            <a:r>
              <a:rPr sz="1150" b="1" i="0">
                <a:solidFill>
                  <a:srgbClr val="15233F"/>
                </a:solidFill>
                <a:latin typeface="Segoe UI"/>
              </a:rPr>
              <a:t>Consignment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POST /consignments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1308" y="2103120"/>
            <a:ext cx="25603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9052" y="2103120"/>
            <a:ext cx="1933590" cy="77724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8780" y="2212848"/>
            <a:ext cx="1714134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F7FC4"/>
                </a:solidFill>
                <a:latin typeface="Consolas"/>
              </a:rPr>
              <a:t>3  </a:t>
            </a:r>
            <a:r>
              <a:rPr sz="1150" b="1" i="0">
                <a:solidFill>
                  <a:srgbClr val="15233F"/>
                </a:solidFill>
                <a:latin typeface="Segoe UI"/>
              </a:rPr>
              <a:t>Goods ≤99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POST /goods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4354" y="2103120"/>
            <a:ext cx="25603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82098" y="2103120"/>
            <a:ext cx="1933590" cy="77724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1826" y="2212848"/>
            <a:ext cx="1714134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F7FC4"/>
                </a:solidFill>
                <a:latin typeface="Consolas"/>
              </a:rPr>
              <a:t>4  </a:t>
            </a:r>
            <a:r>
              <a:rPr sz="1150" b="1" i="0">
                <a:solidFill>
                  <a:srgbClr val="15233F"/>
                </a:solidFill>
                <a:latin typeface="Segoe UI"/>
              </a:rPr>
              <a:t>Submit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consignment→ENS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7400" y="2103120"/>
            <a:ext cx="25603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5144" y="2103120"/>
            <a:ext cx="1933590" cy="77724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4872" y="2212848"/>
            <a:ext cx="1714134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F7FC4"/>
                </a:solidFill>
                <a:latin typeface="Consolas"/>
              </a:rPr>
              <a:t>5  </a:t>
            </a:r>
            <a:r>
              <a:rPr sz="1150" b="1" i="0">
                <a:solidFill>
                  <a:srgbClr val="15233F"/>
                </a:solidFill>
                <a:latin typeface="Segoe UI"/>
              </a:rPr>
              <a:t>SFD lookup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GET sfd · MRN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10896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60">
                <a:solidFill>
                  <a:srgbClr val="C0871F"/>
                </a:solidFill>
                <a:latin typeface="Consolas"/>
              </a:rPr>
              <a:t>GMR &amp; MOVEMENT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401568"/>
            <a:ext cx="1933590" cy="777240"/>
          </a:xfrm>
          <a:prstGeom prst="roundRect">
            <a:avLst>
              <a:gd name="adj" fmla="val 7000"/>
            </a:avLst>
          </a:prstGeom>
          <a:solidFill>
            <a:srgbClr val="F7EEDA"/>
          </a:solidFill>
          <a:ln w="15875">
            <a:solidFill>
              <a:srgbClr val="C0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511296"/>
            <a:ext cx="1714134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0871F"/>
                </a:solidFill>
                <a:latin typeface="Consolas"/>
              </a:rPr>
              <a:t>1  </a:t>
            </a:r>
            <a:r>
              <a:rPr sz="1150" b="1" i="0">
                <a:solidFill>
                  <a:srgbClr val="15233F"/>
                </a:solidFill>
                <a:latin typeface="Segoe UI"/>
              </a:rPr>
              <a:t>GMR create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POST /gvms_gmr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8262" y="3401568"/>
            <a:ext cx="25603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C0871F"/>
                </a:solidFill>
                <a:latin typeface="Consolas"/>
              </a:rPr>
              <a:t>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76006" y="3401568"/>
            <a:ext cx="1933590" cy="777240"/>
          </a:xfrm>
          <a:prstGeom prst="roundRect">
            <a:avLst>
              <a:gd name="adj" fmla="val 7000"/>
            </a:avLst>
          </a:prstGeom>
          <a:solidFill>
            <a:srgbClr val="F7EEDA"/>
          </a:solidFill>
          <a:ln w="15875">
            <a:solidFill>
              <a:srgbClr val="C0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85734" y="3511296"/>
            <a:ext cx="1714134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0871F"/>
                </a:solidFill>
                <a:latin typeface="Consolas"/>
              </a:rPr>
              <a:t>2  </a:t>
            </a:r>
            <a:r>
              <a:rPr sz="1150" b="1" i="0">
                <a:solidFill>
                  <a:srgbClr val="15233F"/>
                </a:solidFill>
                <a:latin typeface="Segoe UI"/>
              </a:rPr>
              <a:t>GMR submit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→ GVMS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1308" y="3401568"/>
            <a:ext cx="25603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C0871F"/>
                </a:solidFill>
                <a:latin typeface="Consolas"/>
              </a:rPr>
              <a:t>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9052" y="3401568"/>
            <a:ext cx="1933590" cy="777240"/>
          </a:xfrm>
          <a:prstGeom prst="roundRect">
            <a:avLst>
              <a:gd name="adj" fmla="val 7000"/>
            </a:avLst>
          </a:prstGeom>
          <a:solidFill>
            <a:srgbClr val="F7EEDA"/>
          </a:solidFill>
          <a:ln w="15875">
            <a:solidFill>
              <a:srgbClr val="C0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8780" y="3511296"/>
            <a:ext cx="1714134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0871F"/>
                </a:solidFill>
                <a:latin typeface="Consolas"/>
              </a:rPr>
              <a:t>3  </a:t>
            </a:r>
            <a:r>
              <a:rPr sz="1150" b="1" i="0">
                <a:solidFill>
                  <a:srgbClr val="15233F"/>
                </a:solidFill>
                <a:latin typeface="Segoe UI"/>
              </a:rPr>
              <a:t>Read gmr_id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wait ~90s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4354" y="3401568"/>
            <a:ext cx="25603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C0871F"/>
                </a:solidFill>
                <a:latin typeface="Consolas"/>
              </a:rPr>
              <a:t>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2098" y="3401568"/>
            <a:ext cx="1933590" cy="777240"/>
          </a:xfrm>
          <a:prstGeom prst="roundRect">
            <a:avLst>
              <a:gd name="adj" fmla="val 7000"/>
            </a:avLst>
          </a:prstGeom>
          <a:solidFill>
            <a:srgbClr val="F7EEDA"/>
          </a:solidFill>
          <a:ln w="15875">
            <a:solidFill>
              <a:srgbClr val="C0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91826" y="3511296"/>
            <a:ext cx="1714134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0871F"/>
                </a:solidFill>
                <a:latin typeface="Consolas"/>
              </a:rPr>
              <a:t>4  </a:t>
            </a:r>
            <a:r>
              <a:rPr sz="1150" b="1" i="0">
                <a:solidFill>
                  <a:srgbClr val="15233F"/>
                </a:solidFill>
                <a:latin typeface="Segoe UI"/>
              </a:rPr>
              <a:t>Goods arrive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NI 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7400" y="3401568"/>
            <a:ext cx="25603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C0871F"/>
                </a:solidFill>
                <a:latin typeface="Consolas"/>
              </a:rPr>
              <a:t>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35144" y="3401568"/>
            <a:ext cx="1933590" cy="777240"/>
          </a:xfrm>
          <a:prstGeom prst="roundRect">
            <a:avLst>
              <a:gd name="adj" fmla="val 7000"/>
            </a:avLst>
          </a:prstGeom>
          <a:solidFill>
            <a:srgbClr val="F7EEDA"/>
          </a:solidFill>
          <a:ln w="15875">
            <a:solidFill>
              <a:srgbClr val="C0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44872" y="3511296"/>
            <a:ext cx="1714134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0871F"/>
                </a:solidFill>
                <a:latin typeface="Consolas"/>
              </a:rPr>
              <a:t>5  </a:t>
            </a:r>
            <a:r>
              <a:rPr sz="1150" b="1" i="0">
                <a:solidFill>
                  <a:srgbClr val="15233F"/>
                </a:solidFill>
                <a:latin typeface="Segoe UI"/>
              </a:rPr>
              <a:t>SUP auto-draft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TSS internal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40740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60">
                <a:solidFill>
                  <a:srgbClr val="2F7FC4"/>
                </a:solidFill>
                <a:latin typeface="Consolas"/>
              </a:rPr>
              <a:t>POST-MOVEMENT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4700016"/>
            <a:ext cx="2384682" cy="77724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" y="4809744"/>
            <a:ext cx="2165226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F7FC4"/>
                </a:solidFill>
                <a:latin typeface="Consolas"/>
              </a:rPr>
              <a:t>1  </a:t>
            </a:r>
            <a:r>
              <a:rPr sz="1150" b="1" i="0">
                <a:solidFill>
                  <a:srgbClr val="15233F"/>
                </a:solidFill>
                <a:latin typeface="Segoe UI"/>
              </a:rPr>
              <a:t>SUP lookup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GET sup_dec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89354" y="4700016"/>
            <a:ext cx="25603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27098" y="4700016"/>
            <a:ext cx="2384682" cy="77724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36826" y="4809744"/>
            <a:ext cx="2165226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F7FC4"/>
                </a:solidFill>
                <a:latin typeface="Consolas"/>
              </a:rPr>
              <a:t>2  </a:t>
            </a:r>
            <a:r>
              <a:rPr sz="1150" b="1" i="0">
                <a:solidFill>
                  <a:srgbClr val="15233F"/>
                </a:solidFill>
                <a:latin typeface="Segoe UI"/>
              </a:rPr>
              <a:t>Re-read goods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new IDs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93492" y="4700016"/>
            <a:ext cx="25603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1236" y="4700016"/>
            <a:ext cx="2384682" cy="77724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40964" y="4809744"/>
            <a:ext cx="2165226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F7FC4"/>
                </a:solidFill>
                <a:latin typeface="Consolas"/>
              </a:rPr>
              <a:t>3  </a:t>
            </a:r>
            <a:r>
              <a:rPr sz="1150" b="1" i="0">
                <a:solidFill>
                  <a:srgbClr val="15233F"/>
                </a:solidFill>
                <a:latin typeface="Segoe UI"/>
              </a:rPr>
              <a:t>Update valuation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POST /goods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98798" y="4700016"/>
            <a:ext cx="2769937" cy="777240"/>
          </a:xfrm>
          <a:prstGeom prst="roundRect">
            <a:avLst>
              <a:gd name="adj" fmla="val 7000"/>
            </a:avLst>
          </a:prstGeom>
          <a:solidFill>
            <a:srgbClr val="E3F3EA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8798" y="4700016"/>
            <a:ext cx="276993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5233F"/>
                </a:solidFill>
                <a:latin typeface="Segoe UI"/>
              </a:rPr>
              <a:t>Submit Supplementary</a:t>
            </a:r>
          </a:p>
          <a:p>
            <a:pPr algn="ctr">
              <a:spcBef>
                <a:spcPts val="200"/>
              </a:spcBef>
            </a:pPr>
            <a:r>
              <a:rPr sz="880" b="0" i="0">
                <a:solidFill>
                  <a:srgbClr val="2E9E6B"/>
                </a:solidFill>
                <a:latin typeface="Consolas"/>
              </a:rPr>
              <a:t>by 10th of next month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6692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C8DA4"/>
                </a:solidFill>
                <a:latin typeface="Segoe UI"/>
              </a:rPr>
              <a:t>✦ SFD and the Supplementary Declaration are auto-generated by TSS/CDS — Fusion Flow reads them, it does not create them (Critical Rule 5).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" y="6400800"/>
            <a:ext cx="10545775" cy="10972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6473952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 spc="80">
                <a:solidFill>
                  <a:srgbClr val="7C8DA4"/>
                </a:solidFill>
                <a:latin typeface="Consolas"/>
              </a:rPr>
              <a:t>Fusion Flow · End-to-End Solution Design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39935" y="6473952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F7FC4"/>
                </a:solidFill>
                <a:latin typeface="Consolas"/>
              </a:rPr>
              <a:t>09</a:t>
            </a:r>
            <a:r>
              <a:rPr sz="900" b="0" i="0">
                <a:solidFill>
                  <a:srgbClr val="7C8DA4"/>
                </a:solidFill>
                <a:latin typeface="Consolas"/>
              </a:rPr>
              <a:t>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novi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1783080" cy="2971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1135" y="42062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 spc="180">
                <a:solidFill>
                  <a:srgbClr val="7C8DA4"/>
                </a:solidFill>
                <a:latin typeface="Consolas"/>
              </a:rPr>
              <a:t>SOLUTION DESIGN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41248"/>
            <a:ext cx="10545775" cy="12801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280160" cy="23774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152144"/>
            <a:ext cx="274320" cy="16459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07899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7FC4"/>
                </a:solidFill>
                <a:latin typeface="Consolas"/>
              </a:rPr>
              <a:t>PROCESS FLOW · MODULE 1 —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5233F"/>
                </a:solidFill>
                <a:latin typeface="Segoe UI"/>
              </a:rPr>
              <a:t>Module 1 ·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41546F"/>
                </a:solidFill>
                <a:latin typeface="Segoe UI"/>
              </a:rPr>
              <a:t>Acquire inbound data from each principal across all configured channels and land it verbatim in ING — opening an EXC execution and capturing full provenance so every downstream record traces to its source file and 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71800"/>
            <a:ext cx="2430703" cy="86868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081528"/>
            <a:ext cx="2211247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Acquire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EMAIL·SFTP·AS2·API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5375" y="2971800"/>
            <a:ext cx="3108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7983" y="2971800"/>
            <a:ext cx="2430703" cy="86868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7711" y="3081528"/>
            <a:ext cx="2211247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Land verbatim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ING raw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0399" y="2971800"/>
            <a:ext cx="3108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971800"/>
            <a:ext cx="2430703" cy="86868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2735" y="3081528"/>
            <a:ext cx="2211247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Provenance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file · 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5423" y="2971800"/>
            <a:ext cx="3108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8031" y="2971800"/>
            <a:ext cx="2430703" cy="86868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7759" y="3081528"/>
            <a:ext cx="2211247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Open EXC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Transaction_ID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605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 spc="140">
                <a:solidFill>
                  <a:srgbClr val="7C8DA4"/>
                </a:solidFill>
                <a:latin typeface="Consolas"/>
              </a:rPr>
              <a:t>SCHEMAS TOUCHED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80560"/>
            <a:ext cx="40599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4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17407F"/>
                </a:solidFill>
                <a:latin typeface="Consolas"/>
              </a:rPr>
              <a:t>CFG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56969" y="4480560"/>
            <a:ext cx="40599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4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17407F"/>
                </a:solidFill>
                <a:latin typeface="Consolas"/>
              </a:rPr>
              <a:t>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90979" y="4480560"/>
            <a:ext cx="40599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4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17407F"/>
                </a:solidFill>
                <a:latin typeface="Consolas"/>
              </a:rPr>
              <a:t>EXC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24988" y="4480560"/>
            <a:ext cx="40599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4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17407F"/>
                </a:solidFill>
                <a:latin typeface="Consolas"/>
              </a:rPr>
              <a:t>LOG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22815" y="448056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2E9E6B"/>
                </a:solidFill>
                <a:latin typeface="Consolas"/>
              </a:rPr>
              <a:t>BUILT · BKD EMAIL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novi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1783080" cy="2971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1135" y="42062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 spc="180">
                <a:solidFill>
                  <a:srgbClr val="7C8DA4"/>
                </a:solidFill>
                <a:latin typeface="Consolas"/>
              </a:rPr>
              <a:t>SOLUTION DESIGN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41248"/>
            <a:ext cx="10545775" cy="12801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280160" cy="23774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152144"/>
            <a:ext cx="274320" cy="16459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07899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7FC4"/>
                </a:solidFill>
                <a:latin typeface="Consolas"/>
              </a:rPr>
              <a:t>PROCESS FLOW · MODULE 2 — DATA PROCESSING (PRS)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5233F"/>
                </a:solidFill>
                <a:latin typeface="Segoe UI"/>
              </a:rPr>
              <a:t>Module 2 · Data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41546F"/>
                </a:solidFill>
                <a:latin typeface="Segoe UI"/>
              </a:rPr>
              <a:t>Transform raw ING records into validated, TSS-shaped objects in PRS — normalise → enrich → construct → validate — logging every field-level change to EXC.Data_Processing_Enhancement. (The subject of the companion deck.)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71800"/>
            <a:ext cx="2430703" cy="868680"/>
          </a:xfrm>
          <a:prstGeom prst="roundRect">
            <a:avLst>
              <a:gd name="adj" fmla="val 7000"/>
            </a:avLst>
          </a:prstGeom>
          <a:solidFill>
            <a:srgbClr val="F7EEDA"/>
          </a:solidFill>
          <a:ln w="15875">
            <a:solidFill>
              <a:srgbClr val="C0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081528"/>
            <a:ext cx="2211247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Normalise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map · dates · codes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5375" y="2971800"/>
            <a:ext cx="3108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C0871F"/>
                </a:solidFill>
                <a:latin typeface="Consolas"/>
              </a:rPr>
              <a:t>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7983" y="2971800"/>
            <a:ext cx="2430703" cy="868680"/>
          </a:xfrm>
          <a:prstGeom prst="roundRect">
            <a:avLst>
              <a:gd name="adj" fmla="val 7000"/>
            </a:avLst>
          </a:prstGeom>
          <a:solidFill>
            <a:srgbClr val="F7EEDA"/>
          </a:solidFill>
          <a:ln w="15875">
            <a:solidFill>
              <a:srgbClr val="C0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7711" y="3081528"/>
            <a:ext cx="2211247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Enrich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choice + QAS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0399" y="2971800"/>
            <a:ext cx="3108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C0871F"/>
                </a:solidFill>
                <a:latin typeface="Consolas"/>
              </a:rPr>
              <a:t>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971800"/>
            <a:ext cx="2430703" cy="868680"/>
          </a:xfrm>
          <a:prstGeom prst="roundRect">
            <a:avLst>
              <a:gd name="adj" fmla="val 7000"/>
            </a:avLst>
          </a:prstGeom>
          <a:solidFill>
            <a:srgbClr val="F7EEDA"/>
          </a:solidFill>
          <a:ln w="15875">
            <a:solidFill>
              <a:srgbClr val="C0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2735" y="3081528"/>
            <a:ext cx="2211247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Construct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1→N→≤99 + nested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5423" y="2971800"/>
            <a:ext cx="3108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C0871F"/>
                </a:solidFill>
                <a:latin typeface="Consolas"/>
              </a:rPr>
              <a:t>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8031" y="2971800"/>
            <a:ext cx="2430703" cy="868680"/>
          </a:xfrm>
          <a:prstGeom prst="roundRect">
            <a:avLst>
              <a:gd name="adj" fmla="val 7000"/>
            </a:avLst>
          </a:prstGeom>
          <a:solidFill>
            <a:srgbClr val="F7EEDA"/>
          </a:solidFill>
          <a:ln w="15875">
            <a:solidFill>
              <a:srgbClr val="C0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7759" y="3081528"/>
            <a:ext cx="2211247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Validate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VALIDATED / REJECTED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605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 spc="140">
                <a:solidFill>
                  <a:srgbClr val="7C8DA4"/>
                </a:solidFill>
                <a:latin typeface="Consolas"/>
              </a:rPr>
              <a:t>SCHEMAS TOUCHED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80560"/>
            <a:ext cx="40599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4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17407F"/>
                </a:solidFill>
                <a:latin typeface="Consolas"/>
              </a:rPr>
              <a:t>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56969" y="4480560"/>
            <a:ext cx="40599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4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17407F"/>
                </a:solidFill>
                <a:latin typeface="Consolas"/>
              </a:rPr>
              <a:t>CFG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90979" y="4480560"/>
            <a:ext cx="40599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4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17407F"/>
                </a:solidFill>
                <a:latin typeface="Consolas"/>
              </a:rPr>
              <a:t>PRS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24988" y="4480560"/>
            <a:ext cx="40599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4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17407F"/>
                </a:solidFill>
                <a:latin typeface="Consolas"/>
              </a:rPr>
              <a:t>EXC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58998" y="4480560"/>
            <a:ext cx="40599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4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17407F"/>
                </a:solidFill>
                <a:latin typeface="Consolas"/>
              </a:rPr>
              <a:t>LOG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2815" y="448056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2E9E6B"/>
                </a:solidFill>
                <a:latin typeface="Consolas"/>
              </a:rPr>
              <a:t>BUILT · QA PASSED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novi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1783080" cy="2971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1135" y="42062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 spc="180">
                <a:solidFill>
                  <a:srgbClr val="7C8DA4"/>
                </a:solidFill>
                <a:latin typeface="Consolas"/>
              </a:rPr>
              <a:t>SOLUTION DESIGN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41248"/>
            <a:ext cx="10545775" cy="12801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280160" cy="23774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152144"/>
            <a:ext cx="274320" cy="16459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07899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7FC4"/>
                </a:solidFill>
                <a:latin typeface="Consolas"/>
              </a:rPr>
              <a:t>PROCESS FLOW · MODULE 3 — SUBMISSION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5233F"/>
                </a:solidFill>
                <a:latin typeface="Segoe UI"/>
              </a:rPr>
              <a:t>Module 3 · Submission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41546F"/>
                </a:solidFill>
                <a:latin typeface="Segoe UI"/>
              </a:rPr>
              <a:t>Assemble validated STG records into TSS submissions — bind goods→consignments→headers, run pre-submit validation, execute the correct ordered API calls for the route, and capture every request/response in the API schema.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71800"/>
            <a:ext cx="2430703" cy="86868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081528"/>
            <a:ext cx="2211247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Bind &amp; pre-check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lockout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5375" y="2971800"/>
            <a:ext cx="3108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7983" y="2971800"/>
            <a:ext cx="2430703" cy="86868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7711" y="3081528"/>
            <a:ext cx="2211247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Ordered calls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/headers…/goods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0399" y="2971800"/>
            <a:ext cx="3108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971800"/>
            <a:ext cx="2430703" cy="86868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2735" y="3081528"/>
            <a:ext cx="2211247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Capture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API req/resp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5423" y="2971800"/>
            <a:ext cx="3108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8031" y="2971800"/>
            <a:ext cx="2430703" cy="86868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7759" y="3081528"/>
            <a:ext cx="2211247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Record codes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back to STG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605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 spc="140">
                <a:solidFill>
                  <a:srgbClr val="7C8DA4"/>
                </a:solidFill>
                <a:latin typeface="Consolas"/>
              </a:rPr>
              <a:t>SCHEMAS TOUCHED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80560"/>
            <a:ext cx="40599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4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17407F"/>
                </a:solidFill>
                <a:latin typeface="Consolas"/>
              </a:rPr>
              <a:t>STG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56969" y="4480560"/>
            <a:ext cx="40599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4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17407F"/>
                </a:solidFill>
                <a:latin typeface="Consolas"/>
              </a:rPr>
              <a:t>CFG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90979" y="4480560"/>
            <a:ext cx="40599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4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17407F"/>
                </a:solidFill>
                <a:latin typeface="Consolas"/>
              </a:rPr>
              <a:t>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24988" y="4480560"/>
            <a:ext cx="40599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4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17407F"/>
                </a:solidFill>
                <a:latin typeface="Consolas"/>
              </a:rPr>
              <a:t>EXC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22815" y="448056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C98A2B"/>
                </a:solidFill>
                <a:latin typeface="Consolas"/>
              </a:rPr>
              <a:t>DESIGN · R1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novi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1783080" cy="2971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1135" y="42062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 spc="180">
                <a:solidFill>
                  <a:srgbClr val="7C8DA4"/>
                </a:solidFill>
                <a:latin typeface="Consolas"/>
              </a:rPr>
              <a:t>SOLUTION DESIGN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41248"/>
            <a:ext cx="10545775" cy="12801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280160" cy="23774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152144"/>
            <a:ext cx="274320" cy="16459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07899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7FC4"/>
                </a:solidFill>
                <a:latin typeface="Consolas"/>
              </a:rPr>
              <a:t>PROCESS FLOW · MODULE 4 — MANAGE &amp;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5233F"/>
                </a:solidFill>
                <a:latin typeface="Segoe UI"/>
              </a:rPr>
              <a:t>Module 4 · Manage &amp; 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41546F"/>
                </a:solidFill>
                <a:latin typeface="Segoe UI"/>
              </a:rPr>
              <a:t>After submission, poll TSS for declaration numbers and auto-generated artefacts (SFD, SDI), pull the returned data into the client schema, reconcile against what was submitted, and maintain the authoritative latest status in CTL.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71800"/>
            <a:ext cx="2430703" cy="86868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081528"/>
            <a:ext cx="2211247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Poll TSS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decl nums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5375" y="2971800"/>
            <a:ext cx="3108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7983" y="2971800"/>
            <a:ext cx="2430703" cy="86868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7711" y="3081528"/>
            <a:ext cx="2211247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Pull back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client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0399" y="2971800"/>
            <a:ext cx="3108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971800"/>
            <a:ext cx="2430703" cy="86868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2735" y="3081528"/>
            <a:ext cx="2211247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Reconcile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vs submitted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5423" y="2971800"/>
            <a:ext cx="3108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F7FC4"/>
                </a:solidFill>
                <a:latin typeface="Consolas"/>
              </a:rPr>
              <a:t>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8031" y="2971800"/>
            <a:ext cx="2430703" cy="86868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 w="15875">
            <a:solidFill>
              <a:srgbClr val="2F7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7759" y="3081528"/>
            <a:ext cx="2211247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5233F"/>
                </a:solidFill>
                <a:latin typeface="Segoe UI"/>
              </a:rPr>
              <a:t>CTL + ARC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80" b="0" i="0">
                <a:solidFill>
                  <a:srgbClr val="41546F"/>
                </a:solidFill>
                <a:latin typeface="Consolas"/>
              </a:rPr>
              <a:t>status · archive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605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 spc="140">
                <a:solidFill>
                  <a:srgbClr val="7C8DA4"/>
                </a:solidFill>
                <a:latin typeface="Consolas"/>
              </a:rPr>
              <a:t>SCHEMAS TOUCHED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80560"/>
            <a:ext cx="40599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4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17407F"/>
                </a:solidFill>
                <a:latin typeface="Consolas"/>
              </a:rPr>
              <a:t>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56969" y="4480560"/>
            <a:ext cx="80832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4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17407F"/>
                </a:solidFill>
                <a:latin typeface="Consolas"/>
              </a:rPr>
              <a:t>〈client〉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93315" y="4480560"/>
            <a:ext cx="40599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4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17407F"/>
                </a:solidFill>
                <a:latin typeface="Consolas"/>
              </a:rPr>
              <a:t>CTL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27324" y="4480560"/>
            <a:ext cx="40599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4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17407F"/>
                </a:solidFill>
                <a:latin typeface="Consolas"/>
              </a:rPr>
              <a:t>ARC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61334" y="4480560"/>
            <a:ext cx="40599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4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17407F"/>
                </a:solidFill>
                <a:latin typeface="Consolas"/>
              </a:rPr>
              <a:t>EXC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2815" y="448056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C98A2B"/>
                </a:solidFill>
                <a:latin typeface="Consolas"/>
              </a:rPr>
              <a:t>DESIGN · R1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novi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1783080" cy="2971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1135" y="42062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 spc="180">
                <a:solidFill>
                  <a:srgbClr val="7C8DA4"/>
                </a:solidFill>
                <a:latin typeface="Consolas"/>
              </a:rPr>
              <a:t>SOLUTION DESIGN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41248"/>
            <a:ext cx="10545775" cy="12801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280160" cy="23774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152144"/>
            <a:ext cx="274320" cy="16459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07899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7FC4"/>
                </a:solidFill>
                <a:latin typeface="Consolas"/>
              </a:rPr>
              <a:t>DATA MODEL · CANONICAL OBJECTS &amp;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5233F"/>
                </a:solidFill>
                <a:latin typeface="Segoe UI"/>
              </a:rPr>
              <a:t>The PRS object graph &amp; the audit spine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5483803" cy="3566160"/>
          </a:xfrm>
          <a:prstGeom prst="roundRect">
            <a:avLst>
              <a:gd name="adj" fmla="val 4000"/>
            </a:avLst>
          </a:prstGeom>
          <a:solidFill>
            <a:srgbClr val="0B1F3D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57400"/>
            <a:ext cx="4935163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E6C984"/>
                </a:solidFill>
                <a:latin typeface="Consolas"/>
              </a:rPr>
              <a:t>PRS — 13 TABLES</a:t>
            </a:r>
          </a:p>
          <a:p>
            <a:pPr algn="l">
              <a:lnSpc>
                <a:spcPct val="110000"/>
              </a:lnSpc>
              <a:spcBef>
                <a:spcPts val="350"/>
              </a:spcBef>
            </a:pPr>
            <a:r>
              <a:rPr sz="1050" b="1" i="0">
                <a:solidFill>
                  <a:srgbClr val="EAF2FB"/>
                </a:solidFill>
                <a:latin typeface="Consolas"/>
              </a:rPr>
              <a:t>▸ PRS.ENS_Header</a:t>
            </a:r>
          </a:p>
          <a:p>
            <a:pPr algn="l">
              <a:lnSpc>
                <a:spcPct val="110000"/>
              </a:lnSpc>
              <a:spcBef>
                <a:spcPts val="350"/>
              </a:spcBef>
            </a:pPr>
            <a:r>
              <a:rPr sz="1050" b="0" i="0">
                <a:solidFill>
                  <a:srgbClr val="E6C984"/>
                </a:solidFill>
                <a:latin typeface="Consolas"/>
              </a:rPr>
              <a:t>   └ PRS.Consignment  ×N</a:t>
            </a:r>
          </a:p>
          <a:p>
            <a:pPr algn="l">
              <a:lnSpc>
                <a:spcPct val="110000"/>
              </a:lnSpc>
              <a:spcBef>
                <a:spcPts val="350"/>
              </a:spcBef>
            </a:pPr>
            <a:r>
              <a:rPr sz="1050" b="0" i="0">
                <a:solidFill>
                  <a:srgbClr val="AFC6E0"/>
                </a:solidFill>
                <a:latin typeface="Consolas"/>
              </a:rPr>
              <a:t>        ├ PreviousDocument</a:t>
            </a:r>
          </a:p>
          <a:p>
            <a:pPr algn="l">
              <a:lnSpc>
                <a:spcPct val="110000"/>
              </a:lnSpc>
              <a:spcBef>
                <a:spcPts val="350"/>
              </a:spcBef>
            </a:pPr>
            <a:r>
              <a:rPr sz="1050" b="0" i="0">
                <a:solidFill>
                  <a:srgbClr val="AFC6E0"/>
                </a:solidFill>
                <a:latin typeface="Consolas"/>
              </a:rPr>
              <a:t>        ├ HolderOfAuthorisation</a:t>
            </a:r>
          </a:p>
          <a:p>
            <a:pPr algn="l">
              <a:lnSpc>
                <a:spcPct val="110000"/>
              </a:lnSpc>
              <a:spcBef>
                <a:spcPts val="350"/>
              </a:spcBef>
            </a:pPr>
            <a:r>
              <a:rPr sz="1050" b="0" i="0">
                <a:solidFill>
                  <a:srgbClr val="E6C984"/>
                </a:solidFill>
                <a:latin typeface="Consolas"/>
              </a:rPr>
              <a:t>        └ PRS.Goods_Item  ×≤99</a:t>
            </a:r>
          </a:p>
          <a:p>
            <a:pPr algn="l">
              <a:lnSpc>
                <a:spcPct val="110000"/>
              </a:lnSpc>
              <a:spcBef>
                <a:spcPts val="350"/>
              </a:spcBef>
            </a:pPr>
            <a:r>
              <a:rPr sz="1050" b="0" i="0">
                <a:solidFill>
                  <a:srgbClr val="AFC6E0"/>
                </a:solidFill>
                <a:latin typeface="Consolas"/>
              </a:rPr>
              <a:t>              ├ AdditionalProcedure</a:t>
            </a:r>
          </a:p>
          <a:p>
            <a:pPr algn="l">
              <a:lnSpc>
                <a:spcPct val="110000"/>
              </a:lnSpc>
              <a:spcBef>
                <a:spcPts val="350"/>
              </a:spcBef>
            </a:pPr>
            <a:r>
              <a:rPr sz="1050" b="0" i="0">
                <a:solidFill>
                  <a:srgbClr val="AFC6E0"/>
                </a:solidFill>
                <a:latin typeface="Consolas"/>
              </a:rPr>
              <a:t>              ├ DocumentReference</a:t>
            </a:r>
          </a:p>
          <a:p>
            <a:pPr algn="l">
              <a:lnSpc>
                <a:spcPct val="110000"/>
              </a:lnSpc>
              <a:spcBef>
                <a:spcPts val="350"/>
              </a:spcBef>
            </a:pPr>
            <a:r>
              <a:rPr sz="1050" b="0" i="0">
                <a:solidFill>
                  <a:srgbClr val="AFC6E0"/>
                </a:solidFill>
                <a:latin typeface="Consolas"/>
              </a:rPr>
              <a:t>              ├ AdditionalInformation</a:t>
            </a:r>
          </a:p>
          <a:p>
            <a:pPr algn="l">
              <a:lnSpc>
                <a:spcPct val="110000"/>
              </a:lnSpc>
              <a:spcBef>
                <a:spcPts val="350"/>
              </a:spcBef>
            </a:pPr>
            <a:r>
              <a:rPr sz="1050" b="0" i="0">
                <a:solidFill>
                  <a:srgbClr val="AFC6E0"/>
                </a:solidFill>
                <a:latin typeface="Consolas"/>
              </a:rPr>
              <a:t>              ├ ItemAddDed · TaxBase</a:t>
            </a:r>
          </a:p>
          <a:p>
            <a:pPr algn="l">
              <a:lnSpc>
                <a:spcPct val="110000"/>
              </a:lnSpc>
              <a:spcBef>
                <a:spcPts val="350"/>
              </a:spcBef>
            </a:pPr>
            <a:r>
              <a:rPr sz="1050" b="0" i="0">
                <a:solidFill>
                  <a:srgbClr val="AFC6E0"/>
                </a:solidFill>
                <a:latin typeface="Consolas"/>
              </a:rPr>
              <a:t>              └ NationalAdditionalCode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2523" y="1828800"/>
            <a:ext cx="4696212" cy="169164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10267" y="2011680"/>
            <a:ext cx="4220724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2F7FC4"/>
                </a:solidFill>
                <a:latin typeface="Consolas"/>
              </a:rPr>
              <a:t>EXC — EXECUTION &amp; CHANGE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050" b="1" i="0">
                <a:solidFill>
                  <a:srgbClr val="15233F"/>
                </a:solidFill>
                <a:latin typeface="Consolas"/>
              </a:rPr>
              <a:t>Execution</a:t>
            </a:r>
            <a:r>
              <a:rPr sz="1050" b="0" i="0">
                <a:solidFill>
                  <a:srgbClr val="41546F"/>
                </a:solidFill>
                <a:latin typeface="Segoe UI"/>
              </a:rPr>
              <a:t> — one row per run; Transaction_ID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050" b="1" i="0">
                <a:solidFill>
                  <a:srgbClr val="15233F"/>
                </a:solidFill>
                <a:latin typeface="Consolas"/>
              </a:rPr>
              <a:t>Transaction</a:t>
            </a:r>
            <a:r>
              <a:rPr sz="1050" b="0" i="0">
                <a:solidFill>
                  <a:srgbClr val="41546F"/>
                </a:solidFill>
                <a:latin typeface="Segoe UI"/>
              </a:rPr>
              <a:t> — per-entity stage transitions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050" b="1" i="0">
                <a:solidFill>
                  <a:srgbClr val="15233F"/>
                </a:solidFill>
                <a:latin typeface="Consolas"/>
              </a:rPr>
              <a:t>Data_Processing_Enhancement</a:t>
            </a:r>
            <a:r>
              <a:rPr sz="1050" b="0" i="0">
                <a:solidFill>
                  <a:srgbClr val="41546F"/>
                </a:solidFill>
                <a:latin typeface="Segoe UI"/>
              </a:rPr>
              <a:t> — old/new/rule/txn per field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2523" y="3703320"/>
            <a:ext cx="4696212" cy="1691640"/>
          </a:xfrm>
          <a:prstGeom prst="roundRect">
            <a:avLst>
              <a:gd name="adj" fmla="val 5000"/>
            </a:avLst>
          </a:prstGeom>
          <a:solidFill>
            <a:srgbClr val="F7EEDA"/>
          </a:solidFill>
          <a:ln w="12700">
            <a:solidFill>
              <a:srgbClr val="C0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10267" y="3886200"/>
            <a:ext cx="4220724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C0871F"/>
                </a:solidFill>
                <a:latin typeface="Consolas"/>
              </a:rPr>
              <a:t>KEYS &amp; LINEAGE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050" b="1" i="0">
                <a:solidFill>
                  <a:srgbClr val="15233F"/>
                </a:solidFill>
                <a:latin typeface="Consolas"/>
              </a:rPr>
              <a:t>MovementKey</a:t>
            </a:r>
            <a:r>
              <a:rPr sz="1050" b="0" i="0">
                <a:solidFill>
                  <a:srgbClr val="41546F"/>
                </a:solidFill>
                <a:latin typeface="Segoe UI"/>
              </a:rPr>
              <a:t> = DedupKey (DetailsDate|ICR)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050" b="1" i="0">
                <a:solidFill>
                  <a:srgbClr val="15233F"/>
                </a:solidFill>
                <a:latin typeface="Consolas"/>
              </a:rPr>
              <a:t>ExecutionID + TransactionID</a:t>
            </a:r>
            <a:r>
              <a:rPr sz="1050" b="0" i="0">
                <a:solidFill>
                  <a:srgbClr val="41546F"/>
                </a:solidFill>
                <a:latin typeface="Segoe UI"/>
              </a:rPr>
              <a:t> on every table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050" b="1" i="0">
                <a:solidFill>
                  <a:srgbClr val="15233F"/>
                </a:solidFill>
                <a:latin typeface="Consolas"/>
              </a:rPr>
              <a:t>Source…LoadID</a:t>
            </a:r>
            <a:r>
              <a:rPr sz="1050" b="0" i="0">
                <a:solidFill>
                  <a:srgbClr val="41546F"/>
                </a:solidFill>
                <a:latin typeface="Segoe UI"/>
              </a:rPr>
              <a:t> → back to ING raw rows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400800"/>
            <a:ext cx="10545775" cy="10972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473952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 spc="80">
                <a:solidFill>
                  <a:srgbClr val="7C8DA4"/>
                </a:solidFill>
                <a:latin typeface="Consolas"/>
              </a:rPr>
              <a:t>Fusion Flow · End-to-End Solution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9935" y="6473952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F7FC4"/>
                </a:solidFill>
                <a:latin typeface="Consolas"/>
              </a:rPr>
              <a:t>14</a:t>
            </a:r>
            <a:r>
              <a:rPr sz="900" b="0" i="0">
                <a:solidFill>
                  <a:srgbClr val="7C8DA4"/>
                </a:solidFill>
                <a:latin typeface="Consolas"/>
              </a:rPr>
              <a:t>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novi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1783080" cy="2971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1135" y="42062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 spc="180">
                <a:solidFill>
                  <a:srgbClr val="7C8DA4"/>
                </a:solidFill>
                <a:latin typeface="Consolas"/>
              </a:rPr>
              <a:t>SOLUTION DESIGN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41248"/>
            <a:ext cx="10545775" cy="12801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280160" cy="23774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152144"/>
            <a:ext cx="274320" cy="16459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07899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7FC4"/>
                </a:solidFill>
                <a:latin typeface="Consolas"/>
              </a:rPr>
              <a:t>COMPLIANCE · EMPIRICALLY-CONFIRMED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5233F"/>
                </a:solidFill>
                <a:latin typeface="Segoe UI"/>
              </a:rPr>
              <a:t>Critical rules baked into the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828800"/>
            <a:ext cx="9448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 spc="100">
                <a:solidFill>
                  <a:srgbClr val="7C8DA4"/>
                </a:solidFill>
                <a:latin typeface="Consolas"/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2401" y="1828800"/>
            <a:ext cx="5690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 spc="100">
                <a:solidFill>
                  <a:srgbClr val="7C8DA4"/>
                </a:solidFill>
                <a:latin typeface="Consolas"/>
              </a:rPr>
              <a:t>THE TRAP (TSS REJECTS — OFTEN SILENTLY)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2577" y="1828800"/>
            <a:ext cx="358129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 spc="100">
                <a:solidFill>
                  <a:srgbClr val="7C8DA4"/>
                </a:solidFill>
                <a:latin typeface="Consolas"/>
              </a:rPr>
              <a:t>ENGINEERED CONTROL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103120"/>
            <a:ext cx="10545775" cy="12801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194559"/>
            <a:ext cx="94484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C0871F"/>
                </a:solidFill>
                <a:latin typeface="Consolas"/>
              </a:rPr>
              <a:t>Rule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2401" y="2194559"/>
            <a:ext cx="56904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1546F"/>
                </a:solidFill>
                <a:latin typeface="Segoe UI"/>
              </a:rPr>
              <a:t>arrival_date_time must be strict UTC, not past, ≤14 days ahead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2577" y="2194559"/>
            <a:ext cx="358129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1546F"/>
                </a:solidFill>
                <a:latin typeface="Segoe UI"/>
              </a:rPr>
              <a:t>Reformat (M2 normalise) + bounds-check (validate)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569463"/>
            <a:ext cx="10545775" cy="7315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2670047"/>
            <a:ext cx="94484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C0871F"/>
                </a:solidFill>
                <a:latin typeface="Consolas"/>
              </a:rPr>
              <a:t>Rule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2401" y="2670047"/>
            <a:ext cx="56904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1546F"/>
                </a:solidFill>
                <a:latin typeface="Segoe UI"/>
              </a:rPr>
              <a:t>RoRo Accompanied (3a) makes carrier &amp; place fields mandatory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2577" y="2670047"/>
            <a:ext cx="358129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1546F"/>
                </a:solidFill>
                <a:latin typeface="Segoe UI"/>
              </a:rPr>
              <a:t>Validate enforces the full 3a 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044951"/>
            <a:ext cx="10545775" cy="7315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3145535"/>
            <a:ext cx="94484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C0871F"/>
                </a:solidFill>
                <a:latin typeface="Consolas"/>
              </a:rPr>
              <a:t>Rule 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2401" y="3145535"/>
            <a:ext cx="56904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1546F"/>
                </a:solidFill>
                <a:latin typeface="Segoe UI"/>
              </a:rPr>
              <a:t>Choice-cache column names vary per reference 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2577" y="3145535"/>
            <a:ext cx="358129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1546F"/>
                </a:solidFill>
                <a:latin typeface="Segoe UI"/>
              </a:rPr>
              <a:t>INFORMATION_SCHEMA introspection before every read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520439"/>
            <a:ext cx="10545775" cy="7315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3621023"/>
            <a:ext cx="94484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C0871F"/>
                </a:solidFill>
                <a:latin typeface="Consolas"/>
              </a:rPr>
              <a:t>Rule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2401" y="3621023"/>
            <a:ext cx="56904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1546F"/>
                </a:solidFill>
                <a:latin typeface="Segoe UI"/>
              </a:rPr>
              <a:t>goods_domestic_status = NIDOM → 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2577" y="3621023"/>
            <a:ext cx="358129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1546F"/>
                </a:solidFill>
                <a:latin typeface="Segoe UI"/>
              </a:rPr>
              <a:t>Force single char 'D'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3995927"/>
            <a:ext cx="10545775" cy="7315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096511"/>
            <a:ext cx="94484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C0871F"/>
                </a:solidFill>
                <a:latin typeface="Consolas"/>
              </a:rPr>
              <a:t>Rule 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2401" y="4096511"/>
            <a:ext cx="56904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1546F"/>
                </a:solidFill>
                <a:latin typeface="Segoe UI"/>
              </a:rPr>
              <a:t>Wrong transport_charges literal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32577" y="4096511"/>
            <a:ext cx="358129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1546F"/>
                </a:solidFill>
                <a:latin typeface="Segoe UI"/>
              </a:rPr>
              <a:t>Force 'Y' for BKD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4471415"/>
            <a:ext cx="10545775" cy="7315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571999"/>
            <a:ext cx="94484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C0871F"/>
                </a:solidFill>
                <a:latin typeface="Consolas"/>
              </a:rPr>
              <a:t>Rule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32401" y="4571999"/>
            <a:ext cx="56904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1546F"/>
                </a:solidFill>
                <a:latin typeface="Segoe UI"/>
              </a:rPr>
              <a:t>Free-text arrival port fails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32577" y="4571999"/>
            <a:ext cx="358129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1546F"/>
                </a:solidFill>
                <a:latin typeface="Segoe UI"/>
              </a:rPr>
              <a:t>Force 'GBAUBELBELBEL' (Belfast)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4946903"/>
            <a:ext cx="10545775" cy="7315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5047487"/>
            <a:ext cx="94484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C0871F"/>
                </a:solidFill>
                <a:latin typeface="Consolas"/>
              </a:rPr>
              <a:t>Rule 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32401" y="5047487"/>
            <a:ext cx="56904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1546F"/>
                </a:solidFill>
                <a:latin typeface="Segoe UI"/>
              </a:rPr>
              <a:t>Unregistered importer → SDI silently never generates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32577" y="5047487"/>
            <a:ext cx="358129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1546F"/>
                </a:solidFill>
                <a:latin typeface="Segoe UI"/>
              </a:rPr>
              <a:t>Fall back to Birkdale EORI 'XI379692092000'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5422391"/>
            <a:ext cx="10545775" cy="7315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" y="6400800"/>
            <a:ext cx="10545775" cy="10972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6473952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 spc="80">
                <a:solidFill>
                  <a:srgbClr val="7C8DA4"/>
                </a:solidFill>
                <a:latin typeface="Consolas"/>
              </a:rPr>
              <a:t>Fusion Flow · End-to-End Solution Design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39935" y="6473952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F7FC4"/>
                </a:solidFill>
                <a:latin typeface="Consolas"/>
              </a:rPr>
              <a:t>15</a:t>
            </a:r>
            <a:r>
              <a:rPr sz="900" b="0" i="0">
                <a:solidFill>
                  <a:srgbClr val="7C8DA4"/>
                </a:solidFill>
                <a:latin typeface="Consolas"/>
              </a:rPr>
              <a:t>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novi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1783080" cy="2971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1135" y="42062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 spc="180">
                <a:solidFill>
                  <a:srgbClr val="7C8DA4"/>
                </a:solidFill>
                <a:latin typeface="Consolas"/>
              </a:rPr>
              <a:t>SOLUTION DESIGN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41248"/>
            <a:ext cx="10545775" cy="12801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841248"/>
            <a:ext cx="1280160" cy="23774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152144"/>
            <a:ext cx="274320" cy="16459"/>
          </a:xfrm>
          <a:prstGeom prst="rect">
            <a:avLst/>
          </a:prstGeom>
          <a:solidFill>
            <a:srgbClr val="2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078992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7FC4"/>
                </a:solidFill>
                <a:latin typeface="Consolas"/>
              </a:rPr>
              <a:t>DELIVERY · STATUS &amp;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5233F"/>
                </a:solidFill>
                <a:latin typeface="Segoe UI"/>
              </a:rPr>
              <a:t>What's built, what's next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5090007" cy="338328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12700">
            <a:solidFill>
              <a:srgbClr val="D6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011680"/>
            <a:ext cx="4614519" cy="3054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2F7FC4"/>
                </a:solidFill>
                <a:latin typeface="Consolas"/>
              </a:rPr>
              <a:t>MODULE STATUS — RELEASE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395728"/>
            <a:ext cx="326120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5233F"/>
                </a:solidFill>
                <a:latin typeface="Segoe UI"/>
              </a:rPr>
              <a:t>Foundation — 11 schemas + CFG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29887" y="2414016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2E9E6B"/>
                </a:solidFill>
                <a:latin typeface="Consolas"/>
              </a:rPr>
              <a:t>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2852928"/>
            <a:ext cx="326120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5233F"/>
                </a:solidFill>
                <a:latin typeface="Segoe UI"/>
              </a:rPr>
              <a:t>M1 Ingestion (BKD email)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29887" y="2871216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2E9E6B"/>
                </a:solidFill>
                <a:latin typeface="Consolas"/>
              </a:rPr>
              <a:t>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3310128"/>
            <a:ext cx="326120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5233F"/>
                </a:solidFill>
                <a:latin typeface="Segoe UI"/>
              </a:rPr>
              <a:t>M2 Data Processing (PRS)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29887" y="3328416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2E9E6B"/>
                </a:solidFill>
                <a:latin typeface="Consolas"/>
              </a:rPr>
              <a:t>BUILT · QA PASSED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3767328"/>
            <a:ext cx="326120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5233F"/>
                </a:solidFill>
                <a:latin typeface="Segoe UI"/>
              </a:rPr>
              <a:t>M3 Submission 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29887" y="3785615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C98A2B"/>
                </a:solidFill>
                <a:latin typeface="Consolas"/>
              </a:rPr>
              <a:t>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4224528"/>
            <a:ext cx="326120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5233F"/>
                </a:solidFill>
                <a:latin typeface="Segoe UI"/>
              </a:rPr>
              <a:t>M4 Manage &amp; Monitor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29887" y="4242816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C98A2B"/>
                </a:solidFill>
                <a:latin typeface="Consolas"/>
              </a:rPr>
              <a:t>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4681728"/>
            <a:ext cx="326120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5233F"/>
                </a:solidFill>
                <a:latin typeface="Segoe UI"/>
              </a:rPr>
              <a:t>M5 Reporting &amp; Analytics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29887" y="4700016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8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 spc="50">
                <a:solidFill>
                  <a:srgbClr val="7C8DA4"/>
                </a:solidFill>
                <a:latin typeface="Consolas"/>
              </a:rPr>
              <a:t>PLANNED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8727" y="1828800"/>
            <a:ext cx="5090007" cy="3383280"/>
          </a:xfrm>
          <a:prstGeom prst="roundRect">
            <a:avLst>
              <a:gd name="adj" fmla="val 5000"/>
            </a:avLst>
          </a:prstGeom>
          <a:solidFill>
            <a:srgbClr val="F7EEDA"/>
          </a:solidFill>
          <a:ln w="12700">
            <a:solidFill>
              <a:srgbClr val="C0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6471" y="2011680"/>
            <a:ext cx="4614519" cy="3054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40">
                <a:solidFill>
                  <a:srgbClr val="C0871F"/>
                </a:solidFill>
                <a:latin typeface="Consolas"/>
              </a:rPr>
              <a:t>ROADMAP BEYOND R1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6471" y="2432304"/>
            <a:ext cx="463280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0871F"/>
                </a:solidFill>
                <a:latin typeface="Consolas"/>
              </a:rPr>
              <a:t>R1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50" b="0" i="0">
                <a:solidFill>
                  <a:srgbClr val="41546F"/>
                </a:solidFill>
                <a:latin typeface="Segoe UI"/>
              </a:rPr>
              <a:t>Route A end-to-end · BKD productionised · choice-value bootstrap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6471" y="3145536"/>
            <a:ext cx="463280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0871F"/>
                </a:solidFill>
                <a:latin typeface="Consolas"/>
              </a:rPr>
              <a:t>R2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50" b="0" i="0">
                <a:solidFill>
                  <a:srgbClr val="41546F"/>
                </a:solidFill>
                <a:latin typeface="Segoe UI"/>
              </a:rPr>
              <a:t>Route B (IMMI / UKIMS) · Route C (Full Frontier) · standalone EIDR SFD · scaled actAs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6471" y="3858768"/>
            <a:ext cx="463280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0871F"/>
                </a:solidFill>
                <a:latin typeface="Consolas"/>
              </a:rPr>
              <a:t>R3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50" b="0" i="0">
                <a:solidFill>
                  <a:srgbClr val="41546F"/>
                </a:solidFill>
                <a:latin typeface="Segoe UI"/>
              </a:rPr>
              <a:t>Route D (Maritime inventory claim) · further principals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6471" y="4572000"/>
            <a:ext cx="463280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0871F"/>
                </a:solidFill>
                <a:latin typeface="Consolas"/>
              </a:rPr>
              <a:t>Next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050" b="0" i="0">
                <a:solidFill>
                  <a:srgbClr val="41546F"/>
                </a:solidFill>
                <a:latin typeface="Segoe UI"/>
              </a:rPr>
              <a:t>Confirm BKD carrier address block &amp; container_indicator source before first live run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6400800"/>
            <a:ext cx="10545775" cy="10972"/>
          </a:xfrm>
          <a:prstGeom prst="rect">
            <a:avLst/>
          </a:prstGeom>
          <a:solidFill>
            <a:srgbClr val="D6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473952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 spc="80">
                <a:solidFill>
                  <a:srgbClr val="7C8DA4"/>
                </a:solidFill>
                <a:latin typeface="Consolas"/>
              </a:rPr>
              <a:t>Fusion Flow · End-to-End Solution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39935" y="6473952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2F7FC4"/>
                </a:solidFill>
                <a:latin typeface="Consolas"/>
              </a:rPr>
              <a:t>16</a:t>
            </a:r>
            <a:r>
              <a:rPr sz="900" b="0" i="0">
                <a:solidFill>
                  <a:srgbClr val="7C8DA4"/>
                </a:solidFill>
                <a:latin typeface="Consolas"/>
              </a:rPr>
              <a:t>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novia-rout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D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ynovia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1828800" cy="8092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834640"/>
            <a:ext cx="1054577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AF2FB"/>
                </a:solidFill>
                <a:latin typeface="Segoe UI"/>
              </a:rPr>
              <a:t>Built to clear the border —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FC2F0"/>
                </a:solidFill>
                <a:latin typeface="Segoe UI"/>
              </a:rPr>
              <a:t>every declaration, every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61488"/>
            <a:ext cx="548640" cy="27432"/>
          </a:xfrm>
          <a:prstGeom prst="rect">
            <a:avLst/>
          </a:prstGeom>
          <a:solidFill>
            <a:srgbClr val="C08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20">
                <a:solidFill>
                  <a:srgbClr val="AFC6E0"/>
                </a:solidFill>
                <a:latin typeface="Consolas"/>
              </a:rPr>
              <a:t>SYNOVIA FUSION · FUSION FLOW · END-TO-END SOLUTION DESIGN · R1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